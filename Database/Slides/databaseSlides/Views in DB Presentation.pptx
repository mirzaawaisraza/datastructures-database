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530" r:id="rId5"/>
    <p:sldId id="531" r:id="rId6"/>
    <p:sldId id="551" r:id="rId7"/>
    <p:sldId id="552" r:id="rId8"/>
    <p:sldId id="533" r:id="rId9"/>
    <p:sldId id="547" r:id="rId10"/>
    <p:sldId id="548" r:id="rId11"/>
    <p:sldId id="549" r:id="rId12"/>
    <p:sldId id="550" r:id="rId13"/>
    <p:sldId id="553" r:id="rId14"/>
    <p:sldId id="534" r:id="rId15"/>
    <p:sldId id="559" r:id="rId16"/>
    <p:sldId id="554" r:id="rId17"/>
    <p:sldId id="555" r:id="rId18"/>
    <p:sldId id="556" r:id="rId19"/>
    <p:sldId id="557" r:id="rId20"/>
    <p:sldId id="558" r:id="rId21"/>
    <p:sldId id="560" r:id="rId22"/>
    <p:sldId id="543" r:id="rId23"/>
    <p:sldId id="54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CDF0"/>
    <a:srgbClr val="F6A6F4"/>
    <a:srgbClr val="C3B9F2"/>
    <a:srgbClr val="A2FCA2"/>
    <a:srgbClr val="DA0000"/>
    <a:srgbClr val="FEB52B"/>
    <a:srgbClr val="FCC28C"/>
    <a:srgbClr val="0A0A0A"/>
    <a:srgbClr val="B0917B"/>
    <a:srgbClr val="8822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84" autoAdjust="0"/>
    <p:restoredTop sz="94422" autoAdjust="0"/>
  </p:normalViewPr>
  <p:slideViewPr>
    <p:cSldViewPr snapToGrid="0">
      <p:cViewPr varScale="1">
        <p:scale>
          <a:sx n="69" d="100"/>
          <a:sy n="69" d="100"/>
        </p:scale>
        <p:origin x="828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00319A-65C3-42E7-AB93-93BAED6EED43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C8DBF00-BEE2-46F8-A189-04B073616AD7}">
      <dgm:prSet/>
      <dgm:spPr/>
      <dgm:t>
        <a:bodyPr/>
        <a:lstStyle/>
        <a:p>
          <a:r>
            <a:rPr lang="en-US" dirty="0"/>
            <a:t>To restrict data access for security purposes </a:t>
          </a:r>
        </a:p>
      </dgm:t>
    </dgm:pt>
    <dgm:pt modelId="{F9C94D6C-D54C-4094-8AEC-B804A7FAAC8B}" type="parTrans" cxnId="{10FB1E66-C7C7-45A1-AA15-FA9FF7CA16DB}">
      <dgm:prSet/>
      <dgm:spPr/>
      <dgm:t>
        <a:bodyPr/>
        <a:lstStyle/>
        <a:p>
          <a:endParaRPr lang="en-US"/>
        </a:p>
      </dgm:t>
    </dgm:pt>
    <dgm:pt modelId="{7F3A0C3D-A17B-4706-AAAD-479E63AD7965}" type="sibTrans" cxnId="{10FB1E66-C7C7-45A1-AA15-FA9FF7CA16DB}">
      <dgm:prSet phldrT="01" phldr="0"/>
      <dgm:spPr/>
      <dgm:t>
        <a:bodyPr/>
        <a:lstStyle/>
        <a:p>
          <a:r>
            <a:rPr lang="en-US" dirty="0"/>
            <a:t>01</a:t>
          </a:r>
        </a:p>
      </dgm:t>
    </dgm:pt>
    <dgm:pt modelId="{1AD5887B-6A79-4FE5-B6B0-001FE0FD490F}">
      <dgm:prSet/>
      <dgm:spPr/>
      <dgm:t>
        <a:bodyPr/>
        <a:lstStyle/>
        <a:p>
          <a:r>
            <a:rPr lang="en-US" dirty="0"/>
            <a:t>To make complex queries easy  (Hides join statements)</a:t>
          </a:r>
        </a:p>
      </dgm:t>
    </dgm:pt>
    <dgm:pt modelId="{808378AE-2217-4871-9F0F-ACDFB98A904E}" type="parTrans" cxnId="{29A783F7-A209-4612-ADF8-DCFAE21EE705}">
      <dgm:prSet/>
      <dgm:spPr/>
      <dgm:t>
        <a:bodyPr/>
        <a:lstStyle/>
        <a:p>
          <a:endParaRPr lang="en-US"/>
        </a:p>
      </dgm:t>
    </dgm:pt>
    <dgm:pt modelId="{A27FA07A-DC5E-4DCF-AF70-A8DC705A4B6E}" type="sibTrans" cxnId="{29A783F7-A209-4612-ADF8-DCFAE21EE705}">
      <dgm:prSet phldrT="02" phldr="0"/>
      <dgm:spPr/>
      <dgm:t>
        <a:bodyPr/>
        <a:lstStyle/>
        <a:p>
          <a:r>
            <a:rPr lang="en-US"/>
            <a:t>02</a:t>
          </a:r>
          <a:endParaRPr lang="en-US" dirty="0"/>
        </a:p>
      </dgm:t>
    </dgm:pt>
    <dgm:pt modelId="{A9570928-3CD8-4598-A2B7-C9DF105EAAAE}">
      <dgm:prSet/>
      <dgm:spPr/>
      <dgm:t>
        <a:bodyPr/>
        <a:lstStyle/>
        <a:p>
          <a:r>
            <a:rPr lang="en-US" dirty="0"/>
            <a:t>To present different  views of the same data to different users </a:t>
          </a:r>
        </a:p>
      </dgm:t>
    </dgm:pt>
    <dgm:pt modelId="{9CCE63A8-9A82-44BD-B49B-BB1A13E22E99}" type="parTrans" cxnId="{C1C477D6-9584-4CE6-B1EC-2E6629A5FA70}">
      <dgm:prSet/>
      <dgm:spPr/>
      <dgm:t>
        <a:bodyPr/>
        <a:lstStyle/>
        <a:p>
          <a:endParaRPr lang="en-US"/>
        </a:p>
      </dgm:t>
    </dgm:pt>
    <dgm:pt modelId="{310DBE20-1770-433A-8EB0-49A7EC8473C6}" type="sibTrans" cxnId="{C1C477D6-9584-4CE6-B1EC-2E6629A5FA70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30DEDF95-5EA3-4A69-805D-629E302DD704}">
      <dgm:prSet/>
      <dgm:spPr/>
      <dgm:t>
        <a:bodyPr/>
        <a:lstStyle/>
        <a:p>
          <a:r>
            <a:rPr lang="en-US" dirty="0"/>
            <a:t>No need of writing most used complex queries again and again</a:t>
          </a:r>
        </a:p>
      </dgm:t>
    </dgm:pt>
    <dgm:pt modelId="{2D1A15B5-A4C0-442D-8FD7-B3EB09ADF76B}" type="parTrans" cxnId="{5FCBF61A-A045-435C-BE38-B19B3669B737}">
      <dgm:prSet/>
      <dgm:spPr/>
      <dgm:t>
        <a:bodyPr/>
        <a:lstStyle/>
        <a:p>
          <a:endParaRPr lang="en-US"/>
        </a:p>
      </dgm:t>
    </dgm:pt>
    <dgm:pt modelId="{CFAA6F59-CDEB-4CA4-A897-F5B279435E3C}" type="sibTrans" cxnId="{5FCBF61A-A045-435C-BE38-B19B3669B737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F11E9750-836F-4A49-87A5-4EDFC01D3D29}" type="pres">
      <dgm:prSet presAssocID="{0200319A-65C3-42E7-AB93-93BAED6EED43}" presName="Name0" presStyleCnt="0">
        <dgm:presLayoutVars>
          <dgm:animLvl val="lvl"/>
          <dgm:resizeHandles val="exact"/>
        </dgm:presLayoutVars>
      </dgm:prSet>
      <dgm:spPr/>
    </dgm:pt>
    <dgm:pt modelId="{E92188B1-5CAB-420D-8646-42C827236D5B}" type="pres">
      <dgm:prSet presAssocID="{2C8DBF00-BEE2-46F8-A189-04B073616AD7}" presName="compositeNode" presStyleCnt="0">
        <dgm:presLayoutVars>
          <dgm:bulletEnabled val="1"/>
        </dgm:presLayoutVars>
      </dgm:prSet>
      <dgm:spPr/>
    </dgm:pt>
    <dgm:pt modelId="{424D8549-FC0E-4BBB-8A33-0CD0C2CFE76D}" type="pres">
      <dgm:prSet presAssocID="{2C8DBF00-BEE2-46F8-A189-04B073616AD7}" presName="bgRect" presStyleLbl="alignNode1" presStyleIdx="0" presStyleCnt="4"/>
      <dgm:spPr/>
    </dgm:pt>
    <dgm:pt modelId="{16440B60-6831-480E-8018-3A34B0D4E77E}" type="pres">
      <dgm:prSet presAssocID="{7F3A0C3D-A17B-4706-AAAD-479E63AD7965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EACBA6C6-A10A-4A14-AB41-B9BABD33D902}" type="pres">
      <dgm:prSet presAssocID="{2C8DBF00-BEE2-46F8-A189-04B073616AD7}" presName="nodeRect" presStyleLbl="alignNode1" presStyleIdx="0" presStyleCnt="4">
        <dgm:presLayoutVars>
          <dgm:bulletEnabled val="1"/>
        </dgm:presLayoutVars>
      </dgm:prSet>
      <dgm:spPr/>
    </dgm:pt>
    <dgm:pt modelId="{D33631FB-9E6A-4B18-A932-8922322B45CE}" type="pres">
      <dgm:prSet presAssocID="{7F3A0C3D-A17B-4706-AAAD-479E63AD7965}" presName="sibTrans" presStyleCnt="0"/>
      <dgm:spPr/>
    </dgm:pt>
    <dgm:pt modelId="{BC47AC2E-6FF9-4B36-8F7F-1FA724939B1C}" type="pres">
      <dgm:prSet presAssocID="{1AD5887B-6A79-4FE5-B6B0-001FE0FD490F}" presName="compositeNode" presStyleCnt="0">
        <dgm:presLayoutVars>
          <dgm:bulletEnabled val="1"/>
        </dgm:presLayoutVars>
      </dgm:prSet>
      <dgm:spPr/>
    </dgm:pt>
    <dgm:pt modelId="{8178AC3D-D2C3-4714-8900-091CBED44450}" type="pres">
      <dgm:prSet presAssocID="{1AD5887B-6A79-4FE5-B6B0-001FE0FD490F}" presName="bgRect" presStyleLbl="alignNode1" presStyleIdx="1" presStyleCnt="4"/>
      <dgm:spPr/>
    </dgm:pt>
    <dgm:pt modelId="{B4165A1A-F55B-4AE9-87D0-BE5088E8D699}" type="pres">
      <dgm:prSet presAssocID="{A27FA07A-DC5E-4DCF-AF70-A8DC705A4B6E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4E79312D-F95C-4BDF-8F1D-CC889ABCD025}" type="pres">
      <dgm:prSet presAssocID="{1AD5887B-6A79-4FE5-B6B0-001FE0FD490F}" presName="nodeRect" presStyleLbl="alignNode1" presStyleIdx="1" presStyleCnt="4">
        <dgm:presLayoutVars>
          <dgm:bulletEnabled val="1"/>
        </dgm:presLayoutVars>
      </dgm:prSet>
      <dgm:spPr/>
    </dgm:pt>
    <dgm:pt modelId="{144A50F0-0DCF-4F1D-AD1B-4099ED92D152}" type="pres">
      <dgm:prSet presAssocID="{A27FA07A-DC5E-4DCF-AF70-A8DC705A4B6E}" presName="sibTrans" presStyleCnt="0"/>
      <dgm:spPr/>
    </dgm:pt>
    <dgm:pt modelId="{0F6A13A6-8C76-4CE8-B14B-742EAB431216}" type="pres">
      <dgm:prSet presAssocID="{A9570928-3CD8-4598-A2B7-C9DF105EAAAE}" presName="compositeNode" presStyleCnt="0">
        <dgm:presLayoutVars>
          <dgm:bulletEnabled val="1"/>
        </dgm:presLayoutVars>
      </dgm:prSet>
      <dgm:spPr/>
    </dgm:pt>
    <dgm:pt modelId="{7980CAF9-5FA6-4CC1-A6AE-10C3A4178362}" type="pres">
      <dgm:prSet presAssocID="{A9570928-3CD8-4598-A2B7-C9DF105EAAAE}" presName="bgRect" presStyleLbl="alignNode1" presStyleIdx="2" presStyleCnt="4"/>
      <dgm:spPr/>
    </dgm:pt>
    <dgm:pt modelId="{A85A2EDE-03D9-4F66-A6BB-9CD6E909D668}" type="pres">
      <dgm:prSet presAssocID="{310DBE20-1770-433A-8EB0-49A7EC8473C6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5F262DEC-ACDB-4D53-848B-8109A93FA83D}" type="pres">
      <dgm:prSet presAssocID="{A9570928-3CD8-4598-A2B7-C9DF105EAAAE}" presName="nodeRect" presStyleLbl="alignNode1" presStyleIdx="2" presStyleCnt="4">
        <dgm:presLayoutVars>
          <dgm:bulletEnabled val="1"/>
        </dgm:presLayoutVars>
      </dgm:prSet>
      <dgm:spPr/>
    </dgm:pt>
    <dgm:pt modelId="{8908733F-3D89-499D-8A4B-EBCAB24F5737}" type="pres">
      <dgm:prSet presAssocID="{310DBE20-1770-433A-8EB0-49A7EC8473C6}" presName="sibTrans" presStyleCnt="0"/>
      <dgm:spPr/>
    </dgm:pt>
    <dgm:pt modelId="{3FE6A043-4511-4F68-98E1-106C133825A5}" type="pres">
      <dgm:prSet presAssocID="{30DEDF95-5EA3-4A69-805D-629E302DD704}" presName="compositeNode" presStyleCnt="0">
        <dgm:presLayoutVars>
          <dgm:bulletEnabled val="1"/>
        </dgm:presLayoutVars>
      </dgm:prSet>
      <dgm:spPr/>
    </dgm:pt>
    <dgm:pt modelId="{23428FBD-64D5-4090-A232-C1B10A56A46B}" type="pres">
      <dgm:prSet presAssocID="{30DEDF95-5EA3-4A69-805D-629E302DD704}" presName="bgRect" presStyleLbl="alignNode1" presStyleIdx="3" presStyleCnt="4"/>
      <dgm:spPr/>
    </dgm:pt>
    <dgm:pt modelId="{5D10B56A-4DA9-4E67-8F45-AF4AA290C653}" type="pres">
      <dgm:prSet presAssocID="{CFAA6F59-CDEB-4CA4-A897-F5B279435E3C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1CF69DBA-FD25-4F98-86C1-5BC306BD4AEE}" type="pres">
      <dgm:prSet presAssocID="{30DEDF95-5EA3-4A69-805D-629E302DD704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71721409-5DD4-480D-8B73-28F2A1964025}" type="presOf" srcId="{2C8DBF00-BEE2-46F8-A189-04B073616AD7}" destId="{424D8549-FC0E-4BBB-8A33-0CD0C2CFE76D}" srcOrd="0" destOrd="0" presId="urn:microsoft.com/office/officeart/2016/7/layout/LinearBlockProcessNumbered"/>
    <dgm:cxn modelId="{5FCBF61A-A045-435C-BE38-B19B3669B737}" srcId="{0200319A-65C3-42E7-AB93-93BAED6EED43}" destId="{30DEDF95-5EA3-4A69-805D-629E302DD704}" srcOrd="3" destOrd="0" parTransId="{2D1A15B5-A4C0-442D-8FD7-B3EB09ADF76B}" sibTransId="{CFAA6F59-CDEB-4CA4-A897-F5B279435E3C}"/>
    <dgm:cxn modelId="{C4237930-D309-4846-832B-2BFF17623AE5}" type="presOf" srcId="{30DEDF95-5EA3-4A69-805D-629E302DD704}" destId="{1CF69DBA-FD25-4F98-86C1-5BC306BD4AEE}" srcOrd="1" destOrd="0" presId="urn:microsoft.com/office/officeart/2016/7/layout/LinearBlockProcessNumbered"/>
    <dgm:cxn modelId="{9C090D31-258A-4CA1-B638-87B252938789}" type="presOf" srcId="{7F3A0C3D-A17B-4706-AAAD-479E63AD7965}" destId="{16440B60-6831-480E-8018-3A34B0D4E77E}" srcOrd="0" destOrd="0" presId="urn:microsoft.com/office/officeart/2016/7/layout/LinearBlockProcessNumbered"/>
    <dgm:cxn modelId="{6693A935-524E-43D9-8F66-351C1ED7ED8B}" type="presOf" srcId="{0200319A-65C3-42E7-AB93-93BAED6EED43}" destId="{F11E9750-836F-4A49-87A5-4EDFC01D3D29}" srcOrd="0" destOrd="0" presId="urn:microsoft.com/office/officeart/2016/7/layout/LinearBlockProcessNumbered"/>
    <dgm:cxn modelId="{8C84BF39-B2A8-497A-B12E-E30D94006F52}" type="presOf" srcId="{A9570928-3CD8-4598-A2B7-C9DF105EAAAE}" destId="{5F262DEC-ACDB-4D53-848B-8109A93FA83D}" srcOrd="1" destOrd="0" presId="urn:microsoft.com/office/officeart/2016/7/layout/LinearBlockProcessNumbered"/>
    <dgm:cxn modelId="{10FB1E66-C7C7-45A1-AA15-FA9FF7CA16DB}" srcId="{0200319A-65C3-42E7-AB93-93BAED6EED43}" destId="{2C8DBF00-BEE2-46F8-A189-04B073616AD7}" srcOrd="0" destOrd="0" parTransId="{F9C94D6C-D54C-4094-8AEC-B804A7FAAC8B}" sibTransId="{7F3A0C3D-A17B-4706-AAAD-479E63AD7965}"/>
    <dgm:cxn modelId="{DE64E66F-6C92-469E-B68D-AB34365AAD47}" type="presOf" srcId="{A9570928-3CD8-4598-A2B7-C9DF105EAAAE}" destId="{7980CAF9-5FA6-4CC1-A6AE-10C3A4178362}" srcOrd="0" destOrd="0" presId="urn:microsoft.com/office/officeart/2016/7/layout/LinearBlockProcessNumbered"/>
    <dgm:cxn modelId="{70C88879-F10C-4531-843C-162AA662C8E8}" type="presOf" srcId="{1AD5887B-6A79-4FE5-B6B0-001FE0FD490F}" destId="{4E79312D-F95C-4BDF-8F1D-CC889ABCD025}" srcOrd="1" destOrd="0" presId="urn:microsoft.com/office/officeart/2016/7/layout/LinearBlockProcessNumbered"/>
    <dgm:cxn modelId="{337EEA9B-86E6-4962-B0F2-C6EEDE3DBC86}" type="presOf" srcId="{310DBE20-1770-433A-8EB0-49A7EC8473C6}" destId="{A85A2EDE-03D9-4F66-A6BB-9CD6E909D668}" srcOrd="0" destOrd="0" presId="urn:microsoft.com/office/officeart/2016/7/layout/LinearBlockProcessNumbered"/>
    <dgm:cxn modelId="{1C8E72BB-E2EC-4FB3-A8C3-22FEEA158489}" type="presOf" srcId="{1AD5887B-6A79-4FE5-B6B0-001FE0FD490F}" destId="{8178AC3D-D2C3-4714-8900-091CBED44450}" srcOrd="0" destOrd="0" presId="urn:microsoft.com/office/officeart/2016/7/layout/LinearBlockProcessNumbered"/>
    <dgm:cxn modelId="{81A131C7-0E86-48D6-BD3B-1A6E38E7895B}" type="presOf" srcId="{30DEDF95-5EA3-4A69-805D-629E302DD704}" destId="{23428FBD-64D5-4090-A232-C1B10A56A46B}" srcOrd="0" destOrd="0" presId="urn:microsoft.com/office/officeart/2016/7/layout/LinearBlockProcessNumbered"/>
    <dgm:cxn modelId="{4DBA86CB-05AD-477F-902C-BD936D3D91C7}" type="presOf" srcId="{2C8DBF00-BEE2-46F8-A189-04B073616AD7}" destId="{EACBA6C6-A10A-4A14-AB41-B9BABD33D902}" srcOrd="1" destOrd="0" presId="urn:microsoft.com/office/officeart/2016/7/layout/LinearBlockProcessNumbered"/>
    <dgm:cxn modelId="{C1C477D6-9584-4CE6-B1EC-2E6629A5FA70}" srcId="{0200319A-65C3-42E7-AB93-93BAED6EED43}" destId="{A9570928-3CD8-4598-A2B7-C9DF105EAAAE}" srcOrd="2" destOrd="0" parTransId="{9CCE63A8-9A82-44BD-B49B-BB1A13E22E99}" sibTransId="{310DBE20-1770-433A-8EB0-49A7EC8473C6}"/>
    <dgm:cxn modelId="{8F9E4CEA-728B-478F-83D7-B39B5F9EF014}" type="presOf" srcId="{CFAA6F59-CDEB-4CA4-A897-F5B279435E3C}" destId="{5D10B56A-4DA9-4E67-8F45-AF4AA290C653}" srcOrd="0" destOrd="0" presId="urn:microsoft.com/office/officeart/2016/7/layout/LinearBlockProcessNumbered"/>
    <dgm:cxn modelId="{8D19F5F1-61FF-46DD-A398-0283A06E96B6}" type="presOf" srcId="{A27FA07A-DC5E-4DCF-AF70-A8DC705A4B6E}" destId="{B4165A1A-F55B-4AE9-87D0-BE5088E8D699}" srcOrd="0" destOrd="0" presId="urn:microsoft.com/office/officeart/2016/7/layout/LinearBlockProcessNumbered"/>
    <dgm:cxn modelId="{29A783F7-A209-4612-ADF8-DCFAE21EE705}" srcId="{0200319A-65C3-42E7-AB93-93BAED6EED43}" destId="{1AD5887B-6A79-4FE5-B6B0-001FE0FD490F}" srcOrd="1" destOrd="0" parTransId="{808378AE-2217-4871-9F0F-ACDFB98A904E}" sibTransId="{A27FA07A-DC5E-4DCF-AF70-A8DC705A4B6E}"/>
    <dgm:cxn modelId="{A315F933-C911-441A-B332-18CE3F0C7959}" type="presParOf" srcId="{F11E9750-836F-4A49-87A5-4EDFC01D3D29}" destId="{E92188B1-5CAB-420D-8646-42C827236D5B}" srcOrd="0" destOrd="0" presId="urn:microsoft.com/office/officeart/2016/7/layout/LinearBlockProcessNumbered"/>
    <dgm:cxn modelId="{B2E716E6-A2EC-4B68-86D9-2A77BA7EC985}" type="presParOf" srcId="{E92188B1-5CAB-420D-8646-42C827236D5B}" destId="{424D8549-FC0E-4BBB-8A33-0CD0C2CFE76D}" srcOrd="0" destOrd="0" presId="urn:microsoft.com/office/officeart/2016/7/layout/LinearBlockProcessNumbered"/>
    <dgm:cxn modelId="{23FC4C38-6D01-45EE-82B1-D059FCD190BD}" type="presParOf" srcId="{E92188B1-5CAB-420D-8646-42C827236D5B}" destId="{16440B60-6831-480E-8018-3A34B0D4E77E}" srcOrd="1" destOrd="0" presId="urn:microsoft.com/office/officeart/2016/7/layout/LinearBlockProcessNumbered"/>
    <dgm:cxn modelId="{8E1A1D7D-FBA1-4D6E-BC8E-FBA66493B62D}" type="presParOf" srcId="{E92188B1-5CAB-420D-8646-42C827236D5B}" destId="{EACBA6C6-A10A-4A14-AB41-B9BABD33D902}" srcOrd="2" destOrd="0" presId="urn:microsoft.com/office/officeart/2016/7/layout/LinearBlockProcessNumbered"/>
    <dgm:cxn modelId="{54E9F062-31D2-47F7-AAED-B7C434176252}" type="presParOf" srcId="{F11E9750-836F-4A49-87A5-4EDFC01D3D29}" destId="{D33631FB-9E6A-4B18-A932-8922322B45CE}" srcOrd="1" destOrd="0" presId="urn:microsoft.com/office/officeart/2016/7/layout/LinearBlockProcessNumbered"/>
    <dgm:cxn modelId="{AAF03B33-9A86-49BE-842E-8A5EAE71EFFC}" type="presParOf" srcId="{F11E9750-836F-4A49-87A5-4EDFC01D3D29}" destId="{BC47AC2E-6FF9-4B36-8F7F-1FA724939B1C}" srcOrd="2" destOrd="0" presId="urn:microsoft.com/office/officeart/2016/7/layout/LinearBlockProcessNumbered"/>
    <dgm:cxn modelId="{8277C703-3D28-4863-8512-D8C4C9AC21A2}" type="presParOf" srcId="{BC47AC2E-6FF9-4B36-8F7F-1FA724939B1C}" destId="{8178AC3D-D2C3-4714-8900-091CBED44450}" srcOrd="0" destOrd="0" presId="urn:microsoft.com/office/officeart/2016/7/layout/LinearBlockProcessNumbered"/>
    <dgm:cxn modelId="{79EA30B4-21C2-46F1-B91D-C2C5505E7A4F}" type="presParOf" srcId="{BC47AC2E-6FF9-4B36-8F7F-1FA724939B1C}" destId="{B4165A1A-F55B-4AE9-87D0-BE5088E8D699}" srcOrd="1" destOrd="0" presId="urn:microsoft.com/office/officeart/2016/7/layout/LinearBlockProcessNumbered"/>
    <dgm:cxn modelId="{8E1BBA0B-2B6B-4232-946A-F4F40788E861}" type="presParOf" srcId="{BC47AC2E-6FF9-4B36-8F7F-1FA724939B1C}" destId="{4E79312D-F95C-4BDF-8F1D-CC889ABCD025}" srcOrd="2" destOrd="0" presId="urn:microsoft.com/office/officeart/2016/7/layout/LinearBlockProcessNumbered"/>
    <dgm:cxn modelId="{6482DDC8-5657-4F1D-BE31-5D94E70D322D}" type="presParOf" srcId="{F11E9750-836F-4A49-87A5-4EDFC01D3D29}" destId="{144A50F0-0DCF-4F1D-AD1B-4099ED92D152}" srcOrd="3" destOrd="0" presId="urn:microsoft.com/office/officeart/2016/7/layout/LinearBlockProcessNumbered"/>
    <dgm:cxn modelId="{CEB806A1-A5A9-405E-9C05-C040133F0AEE}" type="presParOf" srcId="{F11E9750-836F-4A49-87A5-4EDFC01D3D29}" destId="{0F6A13A6-8C76-4CE8-B14B-742EAB431216}" srcOrd="4" destOrd="0" presId="urn:microsoft.com/office/officeart/2016/7/layout/LinearBlockProcessNumbered"/>
    <dgm:cxn modelId="{C70CCF50-0E21-45EA-B15C-4548F67FD275}" type="presParOf" srcId="{0F6A13A6-8C76-4CE8-B14B-742EAB431216}" destId="{7980CAF9-5FA6-4CC1-A6AE-10C3A4178362}" srcOrd="0" destOrd="0" presId="urn:microsoft.com/office/officeart/2016/7/layout/LinearBlockProcessNumbered"/>
    <dgm:cxn modelId="{3763B709-D79B-467C-8CDC-93B9647D77A4}" type="presParOf" srcId="{0F6A13A6-8C76-4CE8-B14B-742EAB431216}" destId="{A85A2EDE-03D9-4F66-A6BB-9CD6E909D668}" srcOrd="1" destOrd="0" presId="urn:microsoft.com/office/officeart/2016/7/layout/LinearBlockProcessNumbered"/>
    <dgm:cxn modelId="{5F7377B3-64EB-46D7-AB0F-FFBA1BE3BAFF}" type="presParOf" srcId="{0F6A13A6-8C76-4CE8-B14B-742EAB431216}" destId="{5F262DEC-ACDB-4D53-848B-8109A93FA83D}" srcOrd="2" destOrd="0" presId="urn:microsoft.com/office/officeart/2016/7/layout/LinearBlockProcessNumbered"/>
    <dgm:cxn modelId="{2FFE487E-D5F1-47BA-884E-F53D79D7CDC7}" type="presParOf" srcId="{F11E9750-836F-4A49-87A5-4EDFC01D3D29}" destId="{8908733F-3D89-499D-8A4B-EBCAB24F5737}" srcOrd="5" destOrd="0" presId="urn:microsoft.com/office/officeart/2016/7/layout/LinearBlockProcessNumbered"/>
    <dgm:cxn modelId="{58E12A7F-605E-4069-AAEB-11B38FFC1498}" type="presParOf" srcId="{F11E9750-836F-4A49-87A5-4EDFC01D3D29}" destId="{3FE6A043-4511-4F68-98E1-106C133825A5}" srcOrd="6" destOrd="0" presId="urn:microsoft.com/office/officeart/2016/7/layout/LinearBlockProcessNumbered"/>
    <dgm:cxn modelId="{FE912555-54D9-407F-8E2A-33C8F1516B41}" type="presParOf" srcId="{3FE6A043-4511-4F68-98E1-106C133825A5}" destId="{23428FBD-64D5-4090-A232-C1B10A56A46B}" srcOrd="0" destOrd="0" presId="urn:microsoft.com/office/officeart/2016/7/layout/LinearBlockProcessNumbered"/>
    <dgm:cxn modelId="{33FC205C-BC61-4BA2-972F-D7D0494046EC}" type="presParOf" srcId="{3FE6A043-4511-4F68-98E1-106C133825A5}" destId="{5D10B56A-4DA9-4E67-8F45-AF4AA290C653}" srcOrd="1" destOrd="0" presId="urn:microsoft.com/office/officeart/2016/7/layout/LinearBlockProcessNumbered"/>
    <dgm:cxn modelId="{C20299B7-4F28-466D-9FD7-6B950DBAF44C}" type="presParOf" srcId="{3FE6A043-4511-4F68-98E1-106C133825A5}" destId="{1CF69DBA-FD25-4F98-86C1-5BC306BD4AE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A39EDB-C6D1-4DD1-98B5-A326216FA28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550D4F-8C2A-45A3-B4A9-CA003A8ECCB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rgbClr val="92CD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Simple view </a:t>
          </a:r>
          <a:r>
            <a:rPr lang="en-US" sz="2000" dirty="0">
              <a:solidFill>
                <a:srgbClr val="92CD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 </a:t>
          </a:r>
          <a:r>
            <a: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creating view from single table </a:t>
          </a:r>
        </a:p>
      </dgm:t>
    </dgm:pt>
    <dgm:pt modelId="{BDD5234C-6B65-41D3-AC5C-6D4B76B13470}" type="parTrans" cxnId="{14981AF5-A1B1-44A7-99C5-FEA2E29B079E}">
      <dgm:prSet/>
      <dgm:spPr/>
      <dgm:t>
        <a:bodyPr/>
        <a:lstStyle/>
        <a:p>
          <a:endParaRPr lang="en-US"/>
        </a:p>
      </dgm:t>
    </dgm:pt>
    <dgm:pt modelId="{729BC975-5A41-45EF-AA81-4A1FDCE0EA4A}" type="sibTrans" cxnId="{14981AF5-A1B1-44A7-99C5-FEA2E29B079E}">
      <dgm:prSet/>
      <dgm:spPr/>
      <dgm:t>
        <a:bodyPr/>
        <a:lstStyle/>
        <a:p>
          <a:endParaRPr lang="en-US"/>
        </a:p>
      </dgm:t>
    </dgm:pt>
    <dgm:pt modelId="{300DBD32-3A5F-4B51-A117-352469D4E94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rgbClr val="92CD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Complex view </a:t>
          </a:r>
          <a:r>
            <a:rPr lang="en-US" sz="2000" dirty="0">
              <a:solidFill>
                <a:srgbClr val="F6A6F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creating complex view with more than one table in order to make query easier </a:t>
          </a:r>
        </a:p>
      </dgm:t>
    </dgm:pt>
    <dgm:pt modelId="{C1DED678-B6CF-4954-9F24-58DB1B91400F}" type="parTrans" cxnId="{B5EEA68A-53EB-4320-86B7-5AD3AC8D6F20}">
      <dgm:prSet/>
      <dgm:spPr/>
      <dgm:t>
        <a:bodyPr/>
        <a:lstStyle/>
        <a:p>
          <a:endParaRPr lang="en-US"/>
        </a:p>
      </dgm:t>
    </dgm:pt>
    <dgm:pt modelId="{0C293685-621E-47D3-94EB-E9C67BA59169}" type="sibTrans" cxnId="{B5EEA68A-53EB-4320-86B7-5AD3AC8D6F20}">
      <dgm:prSet/>
      <dgm:spPr/>
      <dgm:t>
        <a:bodyPr/>
        <a:lstStyle/>
        <a:p>
          <a:endParaRPr lang="en-US"/>
        </a:p>
      </dgm:t>
    </dgm:pt>
    <dgm:pt modelId="{8CDAF082-47CD-4778-AFAD-828E925D774B}" type="pres">
      <dgm:prSet presAssocID="{05A39EDB-C6D1-4DD1-98B5-A326216FA285}" presName="root" presStyleCnt="0">
        <dgm:presLayoutVars>
          <dgm:dir/>
          <dgm:resizeHandles val="exact"/>
        </dgm:presLayoutVars>
      </dgm:prSet>
      <dgm:spPr/>
    </dgm:pt>
    <dgm:pt modelId="{70170C33-B6A3-4506-8F4B-41EE5E0BD240}" type="pres">
      <dgm:prSet presAssocID="{EE550D4F-8C2A-45A3-B4A9-CA003A8ECCB3}" presName="compNode" presStyleCnt="0"/>
      <dgm:spPr/>
    </dgm:pt>
    <dgm:pt modelId="{BE7DA0A3-E753-4AC4-99F4-8BC72BC9E34F}" type="pres">
      <dgm:prSet presAssocID="{EE550D4F-8C2A-45A3-B4A9-CA003A8ECCB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740A9F41-CAB4-4460-9A44-A10F6152D66C}" type="pres">
      <dgm:prSet presAssocID="{EE550D4F-8C2A-45A3-B4A9-CA003A8ECCB3}" presName="spaceRect" presStyleCnt="0"/>
      <dgm:spPr/>
    </dgm:pt>
    <dgm:pt modelId="{268CAD85-1EFE-48F1-91E8-D05674C276A1}" type="pres">
      <dgm:prSet presAssocID="{EE550D4F-8C2A-45A3-B4A9-CA003A8ECCB3}" presName="textRect" presStyleLbl="revTx" presStyleIdx="0" presStyleCnt="2" custLinFactNeighborY="-54692">
        <dgm:presLayoutVars>
          <dgm:chMax val="1"/>
          <dgm:chPref val="1"/>
        </dgm:presLayoutVars>
      </dgm:prSet>
      <dgm:spPr/>
    </dgm:pt>
    <dgm:pt modelId="{CDEBE4E7-1A77-4F87-8D3B-AD02FC458A1F}" type="pres">
      <dgm:prSet presAssocID="{729BC975-5A41-45EF-AA81-4A1FDCE0EA4A}" presName="sibTrans" presStyleCnt="0"/>
      <dgm:spPr/>
    </dgm:pt>
    <dgm:pt modelId="{80178CF0-95FB-45B5-A573-B7DF3F070B38}" type="pres">
      <dgm:prSet presAssocID="{300DBD32-3A5F-4B51-A117-352469D4E948}" presName="compNode" presStyleCnt="0"/>
      <dgm:spPr/>
    </dgm:pt>
    <dgm:pt modelId="{8DD963C9-D604-4258-BB10-D525D8122404}" type="pres">
      <dgm:prSet presAssocID="{300DBD32-3A5F-4B51-A117-352469D4E94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0C87AA59-2FF1-439F-A84B-C48C093E1630}" type="pres">
      <dgm:prSet presAssocID="{300DBD32-3A5F-4B51-A117-352469D4E948}" presName="spaceRect" presStyleCnt="0"/>
      <dgm:spPr/>
    </dgm:pt>
    <dgm:pt modelId="{51CE2961-AC67-4D34-9668-4E6D3D092F78}" type="pres">
      <dgm:prSet presAssocID="{300DBD32-3A5F-4B51-A117-352469D4E948}" presName="textRect" presStyleLbl="revTx" presStyleIdx="1" presStyleCnt="2" custLinFactNeighborX="-614" custLinFactNeighborY="-54692">
        <dgm:presLayoutVars>
          <dgm:chMax val="1"/>
          <dgm:chPref val="1"/>
        </dgm:presLayoutVars>
      </dgm:prSet>
      <dgm:spPr/>
    </dgm:pt>
  </dgm:ptLst>
  <dgm:cxnLst>
    <dgm:cxn modelId="{9ED9492F-72B5-46AB-AA97-E78EB2184B84}" type="presOf" srcId="{300DBD32-3A5F-4B51-A117-352469D4E948}" destId="{51CE2961-AC67-4D34-9668-4E6D3D092F78}" srcOrd="0" destOrd="0" presId="urn:microsoft.com/office/officeart/2018/2/layout/IconLabelList"/>
    <dgm:cxn modelId="{B5EEA68A-53EB-4320-86B7-5AD3AC8D6F20}" srcId="{05A39EDB-C6D1-4DD1-98B5-A326216FA285}" destId="{300DBD32-3A5F-4B51-A117-352469D4E948}" srcOrd="1" destOrd="0" parTransId="{C1DED678-B6CF-4954-9F24-58DB1B91400F}" sibTransId="{0C293685-621E-47D3-94EB-E9C67BA59169}"/>
    <dgm:cxn modelId="{938F40C9-8F56-4FB9-B610-96DB5DEF558C}" type="presOf" srcId="{05A39EDB-C6D1-4DD1-98B5-A326216FA285}" destId="{8CDAF082-47CD-4778-AFAD-828E925D774B}" srcOrd="0" destOrd="0" presId="urn:microsoft.com/office/officeart/2018/2/layout/IconLabelList"/>
    <dgm:cxn modelId="{14981AF5-A1B1-44A7-99C5-FEA2E29B079E}" srcId="{05A39EDB-C6D1-4DD1-98B5-A326216FA285}" destId="{EE550D4F-8C2A-45A3-B4A9-CA003A8ECCB3}" srcOrd="0" destOrd="0" parTransId="{BDD5234C-6B65-41D3-AC5C-6D4B76B13470}" sibTransId="{729BC975-5A41-45EF-AA81-4A1FDCE0EA4A}"/>
    <dgm:cxn modelId="{29F3CDFC-D440-464B-BB15-D01216746EF4}" type="presOf" srcId="{EE550D4F-8C2A-45A3-B4A9-CA003A8ECCB3}" destId="{268CAD85-1EFE-48F1-91E8-D05674C276A1}" srcOrd="0" destOrd="0" presId="urn:microsoft.com/office/officeart/2018/2/layout/IconLabelList"/>
    <dgm:cxn modelId="{FB80BEB0-8E63-4E1A-9894-31D76C5A7270}" type="presParOf" srcId="{8CDAF082-47CD-4778-AFAD-828E925D774B}" destId="{70170C33-B6A3-4506-8F4B-41EE5E0BD240}" srcOrd="0" destOrd="0" presId="urn:microsoft.com/office/officeart/2018/2/layout/IconLabelList"/>
    <dgm:cxn modelId="{ECDB51C4-ED2E-478A-8286-269EFCBEC687}" type="presParOf" srcId="{70170C33-B6A3-4506-8F4B-41EE5E0BD240}" destId="{BE7DA0A3-E753-4AC4-99F4-8BC72BC9E34F}" srcOrd="0" destOrd="0" presId="urn:microsoft.com/office/officeart/2018/2/layout/IconLabelList"/>
    <dgm:cxn modelId="{6A2893AA-8095-47EC-9EF3-191D2F436404}" type="presParOf" srcId="{70170C33-B6A3-4506-8F4B-41EE5E0BD240}" destId="{740A9F41-CAB4-4460-9A44-A10F6152D66C}" srcOrd="1" destOrd="0" presId="urn:microsoft.com/office/officeart/2018/2/layout/IconLabelList"/>
    <dgm:cxn modelId="{ECBEA6A6-ACDD-4A2B-98B4-44BFCEF61989}" type="presParOf" srcId="{70170C33-B6A3-4506-8F4B-41EE5E0BD240}" destId="{268CAD85-1EFE-48F1-91E8-D05674C276A1}" srcOrd="2" destOrd="0" presId="urn:microsoft.com/office/officeart/2018/2/layout/IconLabelList"/>
    <dgm:cxn modelId="{EB5A1EE9-A997-425E-ABFE-1EAE04371C01}" type="presParOf" srcId="{8CDAF082-47CD-4778-AFAD-828E925D774B}" destId="{CDEBE4E7-1A77-4F87-8D3B-AD02FC458A1F}" srcOrd="1" destOrd="0" presId="urn:microsoft.com/office/officeart/2018/2/layout/IconLabelList"/>
    <dgm:cxn modelId="{27F2FF18-1F64-44CA-89DA-E9C15695F098}" type="presParOf" srcId="{8CDAF082-47CD-4778-AFAD-828E925D774B}" destId="{80178CF0-95FB-45B5-A573-B7DF3F070B38}" srcOrd="2" destOrd="0" presId="urn:microsoft.com/office/officeart/2018/2/layout/IconLabelList"/>
    <dgm:cxn modelId="{9EB3B152-C535-436D-9883-BB01F0C117D0}" type="presParOf" srcId="{80178CF0-95FB-45B5-A573-B7DF3F070B38}" destId="{8DD963C9-D604-4258-BB10-D525D8122404}" srcOrd="0" destOrd="0" presId="urn:microsoft.com/office/officeart/2018/2/layout/IconLabelList"/>
    <dgm:cxn modelId="{E952D8E7-9024-42D4-A8F9-9F4FCAD1F879}" type="presParOf" srcId="{80178CF0-95FB-45B5-A573-B7DF3F070B38}" destId="{0C87AA59-2FF1-439F-A84B-C48C093E1630}" srcOrd="1" destOrd="0" presId="urn:microsoft.com/office/officeart/2018/2/layout/IconLabelList"/>
    <dgm:cxn modelId="{94A27924-0648-4852-B468-E002406EC228}" type="presParOf" srcId="{80178CF0-95FB-45B5-A573-B7DF3F070B38}" destId="{51CE2961-AC67-4D34-9668-4E6D3D092F7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5F55B5-7D50-4D57-B95B-2651ADC3950D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789D812-FC83-40C3-BEEC-8B8E89C147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Changes made in base tables (data/records) will change the view data automatically.</a:t>
          </a:r>
        </a:p>
      </dgm:t>
    </dgm:pt>
    <dgm:pt modelId="{E1D788A9-4CBE-4782-AB2B-2F3B63EEBEAD}" type="parTrans" cxnId="{E8D0E4DA-7D3A-4C33-B127-FEDC0ED05429}">
      <dgm:prSet/>
      <dgm:spPr/>
      <dgm:t>
        <a:bodyPr/>
        <a:lstStyle/>
        <a:p>
          <a:endParaRPr lang="en-US"/>
        </a:p>
      </dgm:t>
    </dgm:pt>
    <dgm:pt modelId="{4CE656E0-C1B5-4756-8F73-062D9DE6F143}" type="sibTrans" cxnId="{E8D0E4DA-7D3A-4C33-B127-FEDC0ED05429}">
      <dgm:prSet/>
      <dgm:spPr/>
      <dgm:t>
        <a:bodyPr/>
        <a:lstStyle/>
        <a:p>
          <a:endParaRPr lang="en-US"/>
        </a:p>
      </dgm:t>
    </dgm:pt>
    <dgm:pt modelId="{10B34A7F-AD02-41EF-8E3E-379B985490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Changes made in structure of base tables won’t affect the views i.e., addition of new column in table won’t add column in view</a:t>
          </a:r>
        </a:p>
      </dgm:t>
    </dgm:pt>
    <dgm:pt modelId="{5A22F2D6-6F45-4B08-B263-FF09E3CE4B30}" type="parTrans" cxnId="{4C59FD15-A62A-4278-8FE2-D7565338B9B6}">
      <dgm:prSet/>
      <dgm:spPr/>
      <dgm:t>
        <a:bodyPr/>
        <a:lstStyle/>
        <a:p>
          <a:endParaRPr lang="en-US"/>
        </a:p>
      </dgm:t>
    </dgm:pt>
    <dgm:pt modelId="{9F040400-4018-41A8-9157-A41834EA8C3C}" type="sibTrans" cxnId="{4C59FD15-A62A-4278-8FE2-D7565338B9B6}">
      <dgm:prSet/>
      <dgm:spPr/>
      <dgm:t>
        <a:bodyPr/>
        <a:lstStyle/>
        <a:p>
          <a:endParaRPr lang="en-US"/>
        </a:p>
      </dgm:t>
    </dgm:pt>
    <dgm:pt modelId="{65F9D083-AD19-452D-B3E1-959E45C649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Changes made in view may change the base tables, so called updatable views.</a:t>
          </a:r>
        </a:p>
      </dgm:t>
    </dgm:pt>
    <dgm:pt modelId="{DDB52109-FAAF-4DA2-A0BE-00DD711DB3A1}" type="parTrans" cxnId="{83C9FFC7-1F17-4D2B-9B17-8B9E44A0CD61}">
      <dgm:prSet/>
      <dgm:spPr/>
      <dgm:t>
        <a:bodyPr/>
        <a:lstStyle/>
        <a:p>
          <a:endParaRPr lang="en-US"/>
        </a:p>
      </dgm:t>
    </dgm:pt>
    <dgm:pt modelId="{B196DFFF-AA1E-4AE3-8340-498E4CEF972A}" type="sibTrans" cxnId="{83C9FFC7-1F17-4D2B-9B17-8B9E44A0CD61}">
      <dgm:prSet/>
      <dgm:spPr/>
      <dgm:t>
        <a:bodyPr/>
        <a:lstStyle/>
        <a:p>
          <a:endParaRPr lang="en-US"/>
        </a:p>
      </dgm:t>
    </dgm:pt>
    <dgm:pt modelId="{EDBF320F-D1D1-4451-81CA-3DF3E7163DE7}" type="pres">
      <dgm:prSet presAssocID="{FB5F55B5-7D50-4D57-B95B-2651ADC3950D}" presName="root" presStyleCnt="0">
        <dgm:presLayoutVars>
          <dgm:dir/>
          <dgm:resizeHandles val="exact"/>
        </dgm:presLayoutVars>
      </dgm:prSet>
      <dgm:spPr/>
    </dgm:pt>
    <dgm:pt modelId="{46360E95-8AE3-45CD-B65D-A49B3D720D9C}" type="pres">
      <dgm:prSet presAssocID="{7789D812-FC83-40C3-BEEC-8B8E89C147C8}" presName="compNode" presStyleCnt="0"/>
      <dgm:spPr/>
    </dgm:pt>
    <dgm:pt modelId="{F08574AE-31A2-475B-A3A6-F8539B912F5B}" type="pres">
      <dgm:prSet presAssocID="{7789D812-FC83-40C3-BEEC-8B8E89C147C8}" presName="bgRect" presStyleLbl="bgShp" presStyleIdx="0" presStyleCnt="3"/>
      <dgm:spPr/>
    </dgm:pt>
    <dgm:pt modelId="{2A3B42BA-170E-4830-A880-556C245BD85A}" type="pres">
      <dgm:prSet presAssocID="{7789D812-FC83-40C3-BEEC-8B8E89C147C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0619BCE-BA2A-4B1D-B0E7-56FCC14E33EB}" type="pres">
      <dgm:prSet presAssocID="{7789D812-FC83-40C3-BEEC-8B8E89C147C8}" presName="spaceRect" presStyleCnt="0"/>
      <dgm:spPr/>
    </dgm:pt>
    <dgm:pt modelId="{A2DA0D0C-F846-4A95-81E4-60C1BC976D9D}" type="pres">
      <dgm:prSet presAssocID="{7789D812-FC83-40C3-BEEC-8B8E89C147C8}" presName="parTx" presStyleLbl="revTx" presStyleIdx="0" presStyleCnt="3">
        <dgm:presLayoutVars>
          <dgm:chMax val="0"/>
          <dgm:chPref val="0"/>
        </dgm:presLayoutVars>
      </dgm:prSet>
      <dgm:spPr/>
    </dgm:pt>
    <dgm:pt modelId="{6F60A038-1F45-4E03-932C-BADFC9DEFDA3}" type="pres">
      <dgm:prSet presAssocID="{4CE656E0-C1B5-4756-8F73-062D9DE6F143}" presName="sibTrans" presStyleCnt="0"/>
      <dgm:spPr/>
    </dgm:pt>
    <dgm:pt modelId="{3D497528-0CDF-4E05-90A8-970CEDB7A964}" type="pres">
      <dgm:prSet presAssocID="{10B34A7F-AD02-41EF-8E3E-379B98549067}" presName="compNode" presStyleCnt="0"/>
      <dgm:spPr/>
    </dgm:pt>
    <dgm:pt modelId="{59ED6F3F-89B8-4674-8A88-95EE5FBA0CA5}" type="pres">
      <dgm:prSet presAssocID="{10B34A7F-AD02-41EF-8E3E-379B98549067}" presName="bgRect" presStyleLbl="bgShp" presStyleIdx="1" presStyleCnt="3"/>
      <dgm:spPr/>
    </dgm:pt>
    <dgm:pt modelId="{0F929828-644B-4950-9056-8DB5BE0A29E7}" type="pres">
      <dgm:prSet presAssocID="{10B34A7F-AD02-41EF-8E3E-379B9854906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6A3DF0D-7D78-4B94-89FE-27136D035205}" type="pres">
      <dgm:prSet presAssocID="{10B34A7F-AD02-41EF-8E3E-379B98549067}" presName="spaceRect" presStyleCnt="0"/>
      <dgm:spPr/>
    </dgm:pt>
    <dgm:pt modelId="{A1147EBA-B90A-44D9-AFBA-C0C2415C6E3E}" type="pres">
      <dgm:prSet presAssocID="{10B34A7F-AD02-41EF-8E3E-379B98549067}" presName="parTx" presStyleLbl="revTx" presStyleIdx="1" presStyleCnt="3">
        <dgm:presLayoutVars>
          <dgm:chMax val="0"/>
          <dgm:chPref val="0"/>
        </dgm:presLayoutVars>
      </dgm:prSet>
      <dgm:spPr/>
    </dgm:pt>
    <dgm:pt modelId="{9E9CD56F-0F66-4459-B619-DB93EF4B4217}" type="pres">
      <dgm:prSet presAssocID="{9F040400-4018-41A8-9157-A41834EA8C3C}" presName="sibTrans" presStyleCnt="0"/>
      <dgm:spPr/>
    </dgm:pt>
    <dgm:pt modelId="{9E10A9D7-B8FD-437A-A669-1600E11783A4}" type="pres">
      <dgm:prSet presAssocID="{65F9D083-AD19-452D-B3E1-959E45C649F3}" presName="compNode" presStyleCnt="0"/>
      <dgm:spPr/>
    </dgm:pt>
    <dgm:pt modelId="{96ED27D4-36BE-4A28-8C97-22FD01057825}" type="pres">
      <dgm:prSet presAssocID="{65F9D083-AD19-452D-B3E1-959E45C649F3}" presName="bgRect" presStyleLbl="bgShp" presStyleIdx="2" presStyleCnt="3"/>
      <dgm:spPr/>
    </dgm:pt>
    <dgm:pt modelId="{52605747-D030-4FB9-870B-D67035748369}" type="pres">
      <dgm:prSet presAssocID="{65F9D083-AD19-452D-B3E1-959E45C649F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119083D-30B1-404B-B8A3-3784660B4D5A}" type="pres">
      <dgm:prSet presAssocID="{65F9D083-AD19-452D-B3E1-959E45C649F3}" presName="spaceRect" presStyleCnt="0"/>
      <dgm:spPr/>
    </dgm:pt>
    <dgm:pt modelId="{D19F0AB1-D7F1-4A3A-9A11-21B1FECFB5A4}" type="pres">
      <dgm:prSet presAssocID="{65F9D083-AD19-452D-B3E1-959E45C649F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C59FD15-A62A-4278-8FE2-D7565338B9B6}" srcId="{FB5F55B5-7D50-4D57-B95B-2651ADC3950D}" destId="{10B34A7F-AD02-41EF-8E3E-379B98549067}" srcOrd="1" destOrd="0" parTransId="{5A22F2D6-6F45-4B08-B263-FF09E3CE4B30}" sibTransId="{9F040400-4018-41A8-9157-A41834EA8C3C}"/>
    <dgm:cxn modelId="{A202F941-9D0E-4CB5-A135-B6E36F1D3BB9}" type="presOf" srcId="{10B34A7F-AD02-41EF-8E3E-379B98549067}" destId="{A1147EBA-B90A-44D9-AFBA-C0C2415C6E3E}" srcOrd="0" destOrd="0" presId="urn:microsoft.com/office/officeart/2018/2/layout/IconVerticalSolidList"/>
    <dgm:cxn modelId="{C6B5E942-42BC-4CF6-8CBA-6E4C4D33B539}" type="presOf" srcId="{FB5F55B5-7D50-4D57-B95B-2651ADC3950D}" destId="{EDBF320F-D1D1-4451-81CA-3DF3E7163DE7}" srcOrd="0" destOrd="0" presId="urn:microsoft.com/office/officeart/2018/2/layout/IconVerticalSolidList"/>
    <dgm:cxn modelId="{5F0DE843-A4F2-4A24-B91D-C2A84AED2290}" type="presOf" srcId="{65F9D083-AD19-452D-B3E1-959E45C649F3}" destId="{D19F0AB1-D7F1-4A3A-9A11-21B1FECFB5A4}" srcOrd="0" destOrd="0" presId="urn:microsoft.com/office/officeart/2018/2/layout/IconVerticalSolidList"/>
    <dgm:cxn modelId="{1DBC969D-89CB-4FD6-BFC2-4D2AE034D330}" type="presOf" srcId="{7789D812-FC83-40C3-BEEC-8B8E89C147C8}" destId="{A2DA0D0C-F846-4A95-81E4-60C1BC976D9D}" srcOrd="0" destOrd="0" presId="urn:microsoft.com/office/officeart/2018/2/layout/IconVerticalSolidList"/>
    <dgm:cxn modelId="{83C9FFC7-1F17-4D2B-9B17-8B9E44A0CD61}" srcId="{FB5F55B5-7D50-4D57-B95B-2651ADC3950D}" destId="{65F9D083-AD19-452D-B3E1-959E45C649F3}" srcOrd="2" destOrd="0" parTransId="{DDB52109-FAAF-4DA2-A0BE-00DD711DB3A1}" sibTransId="{B196DFFF-AA1E-4AE3-8340-498E4CEF972A}"/>
    <dgm:cxn modelId="{E8D0E4DA-7D3A-4C33-B127-FEDC0ED05429}" srcId="{FB5F55B5-7D50-4D57-B95B-2651ADC3950D}" destId="{7789D812-FC83-40C3-BEEC-8B8E89C147C8}" srcOrd="0" destOrd="0" parTransId="{E1D788A9-4CBE-4782-AB2B-2F3B63EEBEAD}" sibTransId="{4CE656E0-C1B5-4756-8F73-062D9DE6F143}"/>
    <dgm:cxn modelId="{7116E06C-8BE9-446B-8EA0-4C086B3145D2}" type="presParOf" srcId="{EDBF320F-D1D1-4451-81CA-3DF3E7163DE7}" destId="{46360E95-8AE3-45CD-B65D-A49B3D720D9C}" srcOrd="0" destOrd="0" presId="urn:microsoft.com/office/officeart/2018/2/layout/IconVerticalSolidList"/>
    <dgm:cxn modelId="{46AA5DC3-D9D0-4ECD-A4AC-1F4325CD2C52}" type="presParOf" srcId="{46360E95-8AE3-45CD-B65D-A49B3D720D9C}" destId="{F08574AE-31A2-475B-A3A6-F8539B912F5B}" srcOrd="0" destOrd="0" presId="urn:microsoft.com/office/officeart/2018/2/layout/IconVerticalSolidList"/>
    <dgm:cxn modelId="{01B808E7-0920-4981-8D54-51B7F30DED16}" type="presParOf" srcId="{46360E95-8AE3-45CD-B65D-A49B3D720D9C}" destId="{2A3B42BA-170E-4830-A880-556C245BD85A}" srcOrd="1" destOrd="0" presId="urn:microsoft.com/office/officeart/2018/2/layout/IconVerticalSolidList"/>
    <dgm:cxn modelId="{9EB26EA1-DAB2-4EF4-9936-9E6844BE7F63}" type="presParOf" srcId="{46360E95-8AE3-45CD-B65D-A49B3D720D9C}" destId="{90619BCE-BA2A-4B1D-B0E7-56FCC14E33EB}" srcOrd="2" destOrd="0" presId="urn:microsoft.com/office/officeart/2018/2/layout/IconVerticalSolidList"/>
    <dgm:cxn modelId="{AF4A10F3-E9CA-4FDF-BAB6-09BDEAEB0EA2}" type="presParOf" srcId="{46360E95-8AE3-45CD-B65D-A49B3D720D9C}" destId="{A2DA0D0C-F846-4A95-81E4-60C1BC976D9D}" srcOrd="3" destOrd="0" presId="urn:microsoft.com/office/officeart/2018/2/layout/IconVerticalSolidList"/>
    <dgm:cxn modelId="{A833D993-C92F-4BE3-9EF2-41F89F80BC51}" type="presParOf" srcId="{EDBF320F-D1D1-4451-81CA-3DF3E7163DE7}" destId="{6F60A038-1F45-4E03-932C-BADFC9DEFDA3}" srcOrd="1" destOrd="0" presId="urn:microsoft.com/office/officeart/2018/2/layout/IconVerticalSolidList"/>
    <dgm:cxn modelId="{9D61E23E-504D-40F7-B076-EE658FC22732}" type="presParOf" srcId="{EDBF320F-D1D1-4451-81CA-3DF3E7163DE7}" destId="{3D497528-0CDF-4E05-90A8-970CEDB7A964}" srcOrd="2" destOrd="0" presId="urn:microsoft.com/office/officeart/2018/2/layout/IconVerticalSolidList"/>
    <dgm:cxn modelId="{65F4EC35-8C81-48FC-97B4-D78F142C2027}" type="presParOf" srcId="{3D497528-0CDF-4E05-90A8-970CEDB7A964}" destId="{59ED6F3F-89B8-4674-8A88-95EE5FBA0CA5}" srcOrd="0" destOrd="0" presId="urn:microsoft.com/office/officeart/2018/2/layout/IconVerticalSolidList"/>
    <dgm:cxn modelId="{CC241A0B-7FBC-489B-A3E5-6B5E27123F3A}" type="presParOf" srcId="{3D497528-0CDF-4E05-90A8-970CEDB7A964}" destId="{0F929828-644B-4950-9056-8DB5BE0A29E7}" srcOrd="1" destOrd="0" presId="urn:microsoft.com/office/officeart/2018/2/layout/IconVerticalSolidList"/>
    <dgm:cxn modelId="{F66821A7-C3C5-47FC-A17A-0FB09643DFF0}" type="presParOf" srcId="{3D497528-0CDF-4E05-90A8-970CEDB7A964}" destId="{A6A3DF0D-7D78-4B94-89FE-27136D035205}" srcOrd="2" destOrd="0" presId="urn:microsoft.com/office/officeart/2018/2/layout/IconVerticalSolidList"/>
    <dgm:cxn modelId="{C8974CE5-7B55-4847-8465-3A003D26887D}" type="presParOf" srcId="{3D497528-0CDF-4E05-90A8-970CEDB7A964}" destId="{A1147EBA-B90A-44D9-AFBA-C0C2415C6E3E}" srcOrd="3" destOrd="0" presId="urn:microsoft.com/office/officeart/2018/2/layout/IconVerticalSolidList"/>
    <dgm:cxn modelId="{5D2FD007-B3D1-4F68-A9E6-DB30F18DB3E1}" type="presParOf" srcId="{EDBF320F-D1D1-4451-81CA-3DF3E7163DE7}" destId="{9E9CD56F-0F66-4459-B619-DB93EF4B4217}" srcOrd="3" destOrd="0" presId="urn:microsoft.com/office/officeart/2018/2/layout/IconVerticalSolidList"/>
    <dgm:cxn modelId="{72D8F769-EC52-4903-94F2-173C9882B5DF}" type="presParOf" srcId="{EDBF320F-D1D1-4451-81CA-3DF3E7163DE7}" destId="{9E10A9D7-B8FD-437A-A669-1600E11783A4}" srcOrd="4" destOrd="0" presId="urn:microsoft.com/office/officeart/2018/2/layout/IconVerticalSolidList"/>
    <dgm:cxn modelId="{CF4363FD-EB8C-49A4-8AA6-438B3DA218F4}" type="presParOf" srcId="{9E10A9D7-B8FD-437A-A669-1600E11783A4}" destId="{96ED27D4-36BE-4A28-8C97-22FD01057825}" srcOrd="0" destOrd="0" presId="urn:microsoft.com/office/officeart/2018/2/layout/IconVerticalSolidList"/>
    <dgm:cxn modelId="{C815967A-19C6-495B-9CF9-F54704CE2B5C}" type="presParOf" srcId="{9E10A9D7-B8FD-437A-A669-1600E11783A4}" destId="{52605747-D030-4FB9-870B-D67035748369}" srcOrd="1" destOrd="0" presId="urn:microsoft.com/office/officeart/2018/2/layout/IconVerticalSolidList"/>
    <dgm:cxn modelId="{E4C7B011-25AB-4448-8C3F-951C62E50164}" type="presParOf" srcId="{9E10A9D7-B8FD-437A-A669-1600E11783A4}" destId="{1119083D-30B1-404B-B8A3-3784660B4D5A}" srcOrd="2" destOrd="0" presId="urn:microsoft.com/office/officeart/2018/2/layout/IconVerticalSolidList"/>
    <dgm:cxn modelId="{F9F75B0A-2891-4316-BD47-A575214B462C}" type="presParOf" srcId="{9E10A9D7-B8FD-437A-A669-1600E11783A4}" destId="{D19F0AB1-D7F1-4A3A-9A11-21B1FECFB5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4D8549-FC0E-4BBB-8A33-0CD0C2CFE76D}">
      <dsp:nvSpPr>
        <dsp:cNvPr id="0" name=""/>
        <dsp:cNvSpPr/>
      </dsp:nvSpPr>
      <dsp:spPr>
        <a:xfrm>
          <a:off x="211" y="233902"/>
          <a:ext cx="2551881" cy="306225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To restrict data access for security purposes </a:t>
          </a:r>
        </a:p>
      </dsp:txBody>
      <dsp:txXfrm>
        <a:off x="211" y="1458805"/>
        <a:ext cx="2551881" cy="1837354"/>
      </dsp:txXfrm>
    </dsp:sp>
    <dsp:sp modelId="{16440B60-6831-480E-8018-3A34B0D4E77E}">
      <dsp:nvSpPr>
        <dsp:cNvPr id="0" name=""/>
        <dsp:cNvSpPr/>
      </dsp:nvSpPr>
      <dsp:spPr>
        <a:xfrm>
          <a:off x="211" y="233902"/>
          <a:ext cx="2551881" cy="1224903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01</a:t>
          </a:r>
        </a:p>
      </dsp:txBody>
      <dsp:txXfrm>
        <a:off x="211" y="233902"/>
        <a:ext cx="2551881" cy="1224903"/>
      </dsp:txXfrm>
    </dsp:sp>
    <dsp:sp modelId="{8178AC3D-D2C3-4714-8900-091CBED44450}">
      <dsp:nvSpPr>
        <dsp:cNvPr id="0" name=""/>
        <dsp:cNvSpPr/>
      </dsp:nvSpPr>
      <dsp:spPr>
        <a:xfrm>
          <a:off x="2756243" y="233902"/>
          <a:ext cx="2551881" cy="3062257"/>
        </a:xfrm>
        <a:prstGeom prst="rect">
          <a:avLst/>
        </a:prstGeom>
        <a:gradFill rotWithShape="0">
          <a:gsLst>
            <a:gs pos="0">
              <a:schemeClr val="accent5">
                <a:hueOff val="1158558"/>
                <a:satOff val="-1956"/>
                <a:lumOff val="-13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158558"/>
                <a:satOff val="-1956"/>
                <a:lumOff val="-13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158558"/>
                <a:satOff val="-1956"/>
                <a:lumOff val="-13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1158558"/>
              <a:satOff val="-1956"/>
              <a:lumOff val="-13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To make complex queries easy  (Hides join statements)</a:t>
          </a:r>
        </a:p>
      </dsp:txBody>
      <dsp:txXfrm>
        <a:off x="2756243" y="1458805"/>
        <a:ext cx="2551881" cy="1837354"/>
      </dsp:txXfrm>
    </dsp:sp>
    <dsp:sp modelId="{B4165A1A-F55B-4AE9-87D0-BE5088E8D699}">
      <dsp:nvSpPr>
        <dsp:cNvPr id="0" name=""/>
        <dsp:cNvSpPr/>
      </dsp:nvSpPr>
      <dsp:spPr>
        <a:xfrm>
          <a:off x="2756243" y="233902"/>
          <a:ext cx="2551881" cy="1224903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02</a:t>
          </a:r>
          <a:endParaRPr lang="en-US" sz="5800" kern="1200" dirty="0"/>
        </a:p>
      </dsp:txBody>
      <dsp:txXfrm>
        <a:off x="2756243" y="233902"/>
        <a:ext cx="2551881" cy="1224903"/>
      </dsp:txXfrm>
    </dsp:sp>
    <dsp:sp modelId="{7980CAF9-5FA6-4CC1-A6AE-10C3A4178362}">
      <dsp:nvSpPr>
        <dsp:cNvPr id="0" name=""/>
        <dsp:cNvSpPr/>
      </dsp:nvSpPr>
      <dsp:spPr>
        <a:xfrm>
          <a:off x="5512275" y="233902"/>
          <a:ext cx="2551881" cy="3062257"/>
        </a:xfrm>
        <a:prstGeom prst="rect">
          <a:avLst/>
        </a:prstGeom>
        <a:gradFill rotWithShape="0">
          <a:gsLst>
            <a:gs pos="0">
              <a:schemeClr val="accent5">
                <a:hueOff val="2317117"/>
                <a:satOff val="-3913"/>
                <a:lumOff val="-2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2317117"/>
                <a:satOff val="-3913"/>
                <a:lumOff val="-2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2317117"/>
                <a:satOff val="-3913"/>
                <a:lumOff val="-2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2317117"/>
              <a:satOff val="-3913"/>
              <a:lumOff val="-2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To present different  views of the same data to different users </a:t>
          </a:r>
        </a:p>
      </dsp:txBody>
      <dsp:txXfrm>
        <a:off x="5512275" y="1458805"/>
        <a:ext cx="2551881" cy="1837354"/>
      </dsp:txXfrm>
    </dsp:sp>
    <dsp:sp modelId="{A85A2EDE-03D9-4F66-A6BB-9CD6E909D668}">
      <dsp:nvSpPr>
        <dsp:cNvPr id="0" name=""/>
        <dsp:cNvSpPr/>
      </dsp:nvSpPr>
      <dsp:spPr>
        <a:xfrm>
          <a:off x="5512275" y="233902"/>
          <a:ext cx="2551881" cy="1224903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03</a:t>
          </a:r>
        </a:p>
      </dsp:txBody>
      <dsp:txXfrm>
        <a:off x="5512275" y="233902"/>
        <a:ext cx="2551881" cy="1224903"/>
      </dsp:txXfrm>
    </dsp:sp>
    <dsp:sp modelId="{23428FBD-64D5-4090-A232-C1B10A56A46B}">
      <dsp:nvSpPr>
        <dsp:cNvPr id="0" name=""/>
        <dsp:cNvSpPr/>
      </dsp:nvSpPr>
      <dsp:spPr>
        <a:xfrm>
          <a:off x="8268307" y="233902"/>
          <a:ext cx="2551881" cy="3062257"/>
        </a:xfrm>
        <a:prstGeom prst="rect">
          <a:avLst/>
        </a:prstGeom>
        <a:gradFill rotWithShape="0">
          <a:gsLst>
            <a:gs pos="0">
              <a:schemeClr val="accent5">
                <a:hueOff val="3475675"/>
                <a:satOff val="-5869"/>
                <a:lumOff val="-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3475675"/>
                <a:satOff val="-5869"/>
                <a:lumOff val="-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3475675"/>
                <a:satOff val="-5869"/>
                <a:lumOff val="-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3475675"/>
              <a:satOff val="-5869"/>
              <a:lumOff val="-39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No need of writing most used complex queries again and again</a:t>
          </a:r>
        </a:p>
      </dsp:txBody>
      <dsp:txXfrm>
        <a:off x="8268307" y="1458805"/>
        <a:ext cx="2551881" cy="1837354"/>
      </dsp:txXfrm>
    </dsp:sp>
    <dsp:sp modelId="{5D10B56A-4DA9-4E67-8F45-AF4AA290C653}">
      <dsp:nvSpPr>
        <dsp:cNvPr id="0" name=""/>
        <dsp:cNvSpPr/>
      </dsp:nvSpPr>
      <dsp:spPr>
        <a:xfrm>
          <a:off x="8268307" y="233902"/>
          <a:ext cx="2551881" cy="1224903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04</a:t>
          </a:r>
        </a:p>
      </dsp:txBody>
      <dsp:txXfrm>
        <a:off x="8268307" y="233902"/>
        <a:ext cx="2551881" cy="12249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DA0A3-E753-4AC4-99F4-8BC72BC9E34F}">
      <dsp:nvSpPr>
        <dsp:cNvPr id="0" name=""/>
        <dsp:cNvSpPr/>
      </dsp:nvSpPr>
      <dsp:spPr>
        <a:xfrm>
          <a:off x="1656518" y="74601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8CAD85-1EFE-48F1-91E8-D05674C276A1}">
      <dsp:nvSpPr>
        <dsp:cNvPr id="0" name=""/>
        <dsp:cNvSpPr/>
      </dsp:nvSpPr>
      <dsp:spPr>
        <a:xfrm>
          <a:off x="468518" y="2011621"/>
          <a:ext cx="432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92CD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Simple view </a:t>
          </a:r>
          <a:r>
            <a:rPr lang="en-US" sz="2000" kern="1200" dirty="0">
              <a:solidFill>
                <a:srgbClr val="92CD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 </a:t>
          </a: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creating view from single table </a:t>
          </a:r>
        </a:p>
      </dsp:txBody>
      <dsp:txXfrm>
        <a:off x="468518" y="2011621"/>
        <a:ext cx="4320000" cy="945000"/>
      </dsp:txXfrm>
    </dsp:sp>
    <dsp:sp modelId="{8DD963C9-D604-4258-BB10-D525D8122404}">
      <dsp:nvSpPr>
        <dsp:cNvPr id="0" name=""/>
        <dsp:cNvSpPr/>
      </dsp:nvSpPr>
      <dsp:spPr>
        <a:xfrm>
          <a:off x="6732518" y="74601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E2961-AC67-4D34-9668-4E6D3D092F78}">
      <dsp:nvSpPr>
        <dsp:cNvPr id="0" name=""/>
        <dsp:cNvSpPr/>
      </dsp:nvSpPr>
      <dsp:spPr>
        <a:xfrm>
          <a:off x="5517993" y="2011621"/>
          <a:ext cx="432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92CD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Complex view </a:t>
          </a:r>
          <a:r>
            <a:rPr lang="en-US" sz="2000" kern="1200" dirty="0">
              <a:solidFill>
                <a:srgbClr val="F6A6F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creating complex view with more than one table in order to make query easier </a:t>
          </a:r>
        </a:p>
      </dsp:txBody>
      <dsp:txXfrm>
        <a:off x="5517993" y="2011621"/>
        <a:ext cx="4320000" cy="945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8574AE-31A2-475B-A3A6-F8539B912F5B}">
      <dsp:nvSpPr>
        <dsp:cNvPr id="0" name=""/>
        <dsp:cNvSpPr/>
      </dsp:nvSpPr>
      <dsp:spPr>
        <a:xfrm>
          <a:off x="0" y="340"/>
          <a:ext cx="8349018" cy="796055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3B42BA-170E-4830-A880-556C245BD85A}">
      <dsp:nvSpPr>
        <dsp:cNvPr id="0" name=""/>
        <dsp:cNvSpPr/>
      </dsp:nvSpPr>
      <dsp:spPr>
        <a:xfrm>
          <a:off x="240806" y="179452"/>
          <a:ext cx="437830" cy="437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A0D0C-F846-4A95-81E4-60C1BC976D9D}">
      <dsp:nvSpPr>
        <dsp:cNvPr id="0" name=""/>
        <dsp:cNvSpPr/>
      </dsp:nvSpPr>
      <dsp:spPr>
        <a:xfrm>
          <a:off x="919443" y="340"/>
          <a:ext cx="7429574" cy="796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49" tIns="84249" rIns="84249" bIns="8424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Changes made in base tables (data/records) will change the view data automatically.</a:t>
          </a:r>
        </a:p>
      </dsp:txBody>
      <dsp:txXfrm>
        <a:off x="919443" y="340"/>
        <a:ext cx="7429574" cy="796055"/>
      </dsp:txXfrm>
    </dsp:sp>
    <dsp:sp modelId="{59ED6F3F-89B8-4674-8A88-95EE5FBA0CA5}">
      <dsp:nvSpPr>
        <dsp:cNvPr id="0" name=""/>
        <dsp:cNvSpPr/>
      </dsp:nvSpPr>
      <dsp:spPr>
        <a:xfrm>
          <a:off x="0" y="995408"/>
          <a:ext cx="8349018" cy="796055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929828-644B-4950-9056-8DB5BE0A29E7}">
      <dsp:nvSpPr>
        <dsp:cNvPr id="0" name=""/>
        <dsp:cNvSpPr/>
      </dsp:nvSpPr>
      <dsp:spPr>
        <a:xfrm>
          <a:off x="240806" y="1174521"/>
          <a:ext cx="437830" cy="437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47EBA-B90A-44D9-AFBA-C0C2415C6E3E}">
      <dsp:nvSpPr>
        <dsp:cNvPr id="0" name=""/>
        <dsp:cNvSpPr/>
      </dsp:nvSpPr>
      <dsp:spPr>
        <a:xfrm>
          <a:off x="919443" y="995408"/>
          <a:ext cx="7429574" cy="796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49" tIns="84249" rIns="84249" bIns="8424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Changes made in structure of base tables won’t affect the views i.e., addition of new column in table won’t add column in view</a:t>
          </a:r>
        </a:p>
      </dsp:txBody>
      <dsp:txXfrm>
        <a:off x="919443" y="995408"/>
        <a:ext cx="7429574" cy="796055"/>
      </dsp:txXfrm>
    </dsp:sp>
    <dsp:sp modelId="{96ED27D4-36BE-4A28-8C97-22FD01057825}">
      <dsp:nvSpPr>
        <dsp:cNvPr id="0" name=""/>
        <dsp:cNvSpPr/>
      </dsp:nvSpPr>
      <dsp:spPr>
        <a:xfrm>
          <a:off x="0" y="1990477"/>
          <a:ext cx="8349018" cy="796055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05747-D030-4FB9-870B-D67035748369}">
      <dsp:nvSpPr>
        <dsp:cNvPr id="0" name=""/>
        <dsp:cNvSpPr/>
      </dsp:nvSpPr>
      <dsp:spPr>
        <a:xfrm>
          <a:off x="240806" y="2169590"/>
          <a:ext cx="437830" cy="437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F0AB1-D7F1-4A3A-9A11-21B1FECFB5A4}">
      <dsp:nvSpPr>
        <dsp:cNvPr id="0" name=""/>
        <dsp:cNvSpPr/>
      </dsp:nvSpPr>
      <dsp:spPr>
        <a:xfrm>
          <a:off x="919443" y="1990477"/>
          <a:ext cx="7429574" cy="796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49" tIns="84249" rIns="84249" bIns="8424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Changes made in view may change the base tables, so called updatable views.</a:t>
          </a:r>
        </a:p>
      </dsp:txBody>
      <dsp:txXfrm>
        <a:off x="919443" y="1990477"/>
        <a:ext cx="7429574" cy="796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Views in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CONTENTS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What are views?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Why do we use views?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How to create views in Oracle?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Types of 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view.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What are views?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2212848"/>
            <a:ext cx="10332720" cy="3547872"/>
          </a:xfrm>
        </p:spPr>
        <p:txBody>
          <a:bodyPr>
            <a:normAutofit lnSpcReduction="10000"/>
          </a:bodyPr>
          <a:lstStyle/>
          <a:p>
            <a:pPr marL="342900" indent="-342900"/>
            <a:r>
              <a:rPr lang="en-US" sz="2000" b="0" i="0" u="sng" dirty="0">
                <a:effectLst/>
                <a:latin typeface="Courier New" panose="02070309020205020404" pitchFamily="49" charset="0"/>
              </a:rPr>
              <a:t>Example of a complex Query:</a:t>
            </a:r>
          </a:p>
          <a:p>
            <a:pPr marL="0" indent="0">
              <a:buNone/>
            </a:pPr>
            <a:endParaRPr lang="en-US" sz="2000" b="0" i="0" u="sng" dirty="0"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customer,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( quantity * 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unit_price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) 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sales_amount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EXTRACT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(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YEAR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order_date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)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YEAR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orders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INNER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JOIN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order_items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order_id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INNER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JOIN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customers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status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000" b="0" i="0" dirty="0">
                <a:solidFill>
                  <a:srgbClr val="A2FCA2"/>
                </a:solidFill>
                <a:effectLst/>
                <a:latin typeface="Courier New" panose="02070309020205020404" pitchFamily="49" charset="0"/>
              </a:rPr>
              <a:t>'Shipped’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GROUP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EXTRACT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(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YEAR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order_date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);</a:t>
            </a:r>
            <a:endParaRPr lang="en-US" sz="3200" dirty="0"/>
          </a:p>
          <a:p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49E7677-2C49-3E24-2F86-3883023C7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9184" y="411480"/>
            <a:ext cx="521208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6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AC28A4-0358-0906-3DA2-F6B827A45229}"/>
              </a:ext>
            </a:extLst>
          </p:cNvPr>
          <p:cNvSpPr/>
          <p:nvPr/>
        </p:nvSpPr>
        <p:spPr>
          <a:xfrm>
            <a:off x="850392" y="2282725"/>
            <a:ext cx="8442915" cy="3330053"/>
          </a:xfrm>
          <a:prstGeom prst="roundRect">
            <a:avLst/>
          </a:prstGeom>
          <a:noFill/>
          <a:ln w="38100" cap="flat" cmpd="sng" algn="ctr">
            <a:solidFill>
              <a:srgbClr val="92CD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What are views?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373" y="2011680"/>
            <a:ext cx="8442915" cy="38130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0" i="0" u="sng" dirty="0"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customer,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( quantity * 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unit_price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) 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sales_amount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EXTRACT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(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YEAR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order_date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)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YEAR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orders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INNER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JOIN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order_items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order_id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INNER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JOIN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customers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status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000" b="0" i="0" dirty="0">
                <a:solidFill>
                  <a:srgbClr val="A2FCA2"/>
                </a:solidFill>
                <a:effectLst/>
                <a:latin typeface="Courier New" panose="02070309020205020404" pitchFamily="49" charset="0"/>
              </a:rPr>
              <a:t>'Shipped’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GROUP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EXTRACT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(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YEAR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>
                <a:solidFill>
                  <a:srgbClr val="FCC28C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 err="1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order_date</a:t>
            </a:r>
            <a:r>
              <a:rPr lang="en-US" sz="20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 );</a:t>
            </a:r>
            <a:endParaRPr lang="en-US" sz="3200" dirty="0"/>
          </a:p>
          <a:p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49E7677-2C49-3E24-2F86-3883023C7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9184" y="411480"/>
            <a:ext cx="521208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5B533E-B6FD-D366-9F30-FA98225431F7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9293307" y="3947752"/>
            <a:ext cx="707036" cy="0"/>
          </a:xfrm>
          <a:prstGeom prst="straightConnector1">
            <a:avLst/>
          </a:prstGeom>
          <a:ln w="28575">
            <a:solidFill>
              <a:srgbClr val="92CD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A5F188B0-0A92-F612-A316-39CFB4105041}"/>
              </a:ext>
            </a:extLst>
          </p:cNvPr>
          <p:cNvSpPr/>
          <p:nvPr/>
        </p:nvSpPr>
        <p:spPr>
          <a:xfrm>
            <a:off x="10019643" y="3429000"/>
            <a:ext cx="1878026" cy="1069848"/>
          </a:xfrm>
          <a:prstGeom prst="ellips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78E8EB-49D6-9B56-B79C-BD4C332C1058}"/>
              </a:ext>
            </a:extLst>
          </p:cNvPr>
          <p:cNvSpPr txBox="1"/>
          <p:nvPr/>
        </p:nvSpPr>
        <p:spPr>
          <a:xfrm>
            <a:off x="10080189" y="3718149"/>
            <a:ext cx="1756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Sales_per_year</a:t>
            </a:r>
            <a:endParaRPr lang="x-none" sz="2000" b="1" dirty="0"/>
          </a:p>
        </p:txBody>
      </p:sp>
    </p:spTree>
    <p:extLst>
      <p:ext uri="{BB962C8B-B14F-4D97-AF65-F5344CB8AC3E}">
        <p14:creationId xmlns:p14="http://schemas.microsoft.com/office/powerpoint/2010/main" val="1368011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What are views?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2212848"/>
            <a:ext cx="10332720" cy="3547872"/>
          </a:xfrm>
        </p:spPr>
        <p:txBody>
          <a:bodyPr>
            <a:normAutofit/>
          </a:bodyPr>
          <a:lstStyle/>
          <a:p>
            <a:r>
              <a:rPr lang="en-US" dirty="0"/>
              <a:t>A view is a </a:t>
            </a:r>
            <a:r>
              <a:rPr lang="en-US" b="1" i="1" dirty="0">
                <a:solidFill>
                  <a:srgbClr val="F6A6F4"/>
                </a:solidFill>
              </a:rPr>
              <a:t>virtual table. </a:t>
            </a:r>
          </a:p>
          <a:p>
            <a:r>
              <a:rPr lang="en-US" dirty="0"/>
              <a:t>It just represents the data returned by an SQL query.</a:t>
            </a:r>
          </a:p>
          <a:p>
            <a:r>
              <a:rPr lang="en-US" dirty="0"/>
              <a:t>In other words, a view is a </a:t>
            </a:r>
            <a:r>
              <a:rPr lang="en-US" b="1" i="1" dirty="0">
                <a:solidFill>
                  <a:srgbClr val="F6A6F4"/>
                </a:solidFill>
              </a:rPr>
              <a:t>named query.</a:t>
            </a:r>
          </a:p>
          <a:p>
            <a:r>
              <a:rPr lang="en-US" dirty="0"/>
              <a:t>It contains no data itself.</a:t>
            </a:r>
          </a:p>
          <a:p>
            <a:r>
              <a:rPr lang="en-US" dirty="0"/>
              <a:t>Table(s) upon which a view is based is called </a:t>
            </a:r>
            <a:r>
              <a:rPr lang="en-US" b="1" i="1" dirty="0">
                <a:solidFill>
                  <a:srgbClr val="F6A6F4"/>
                </a:solidFill>
              </a:rPr>
              <a:t>base table(s).</a:t>
            </a:r>
          </a:p>
          <a:p>
            <a:r>
              <a:rPr lang="en-US" dirty="0"/>
              <a:t>A view can be created from a single or multiple tables.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49E7677-2C49-3E24-2F86-3883023C7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9184" y="411480"/>
            <a:ext cx="521208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What are views?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268376E-6353-713C-D778-1ECFE9CEAD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8315396"/>
              </p:ext>
            </p:extLst>
          </p:nvPr>
        </p:nvGraphicFramePr>
        <p:xfrm>
          <a:off x="1014414" y="2683840"/>
          <a:ext cx="8955086" cy="21839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96523">
                  <a:extLst>
                    <a:ext uri="{9D8B030D-6E8A-4147-A177-3AD203B41FA5}">
                      <a16:colId xmlns:a16="http://schemas.microsoft.com/office/drawing/2014/main" val="2160171521"/>
                    </a:ext>
                  </a:extLst>
                </a:gridCol>
                <a:gridCol w="1856096">
                  <a:extLst>
                    <a:ext uri="{9D8B030D-6E8A-4147-A177-3AD203B41FA5}">
                      <a16:colId xmlns:a16="http://schemas.microsoft.com/office/drawing/2014/main" val="1933931504"/>
                    </a:ext>
                  </a:extLst>
                </a:gridCol>
                <a:gridCol w="1910686">
                  <a:extLst>
                    <a:ext uri="{9D8B030D-6E8A-4147-A177-3AD203B41FA5}">
                      <a16:colId xmlns:a16="http://schemas.microsoft.com/office/drawing/2014/main" val="472750474"/>
                    </a:ext>
                  </a:extLst>
                </a:gridCol>
                <a:gridCol w="2593075">
                  <a:extLst>
                    <a:ext uri="{9D8B030D-6E8A-4147-A177-3AD203B41FA5}">
                      <a16:colId xmlns:a16="http://schemas.microsoft.com/office/drawing/2014/main" val="2747190109"/>
                    </a:ext>
                  </a:extLst>
                </a:gridCol>
                <a:gridCol w="1398706">
                  <a:extLst>
                    <a:ext uri="{9D8B030D-6E8A-4147-A177-3AD203B41FA5}">
                      <a16:colId xmlns:a16="http://schemas.microsoft.com/office/drawing/2014/main" val="2333242498"/>
                    </a:ext>
                  </a:extLst>
                </a:gridCol>
              </a:tblGrid>
              <a:tr h="526779">
                <a:tc>
                  <a:txBody>
                    <a:bodyPr/>
                    <a:lstStyle/>
                    <a:p>
                      <a:pPr algn="ctr"/>
                      <a:r>
                        <a:rPr lang="en-US" u="sng" dirty="0">
                          <a:solidFill>
                            <a:schemeClr val="tx1"/>
                          </a:solidFill>
                        </a:rPr>
                        <a:t>ROLL</a:t>
                      </a:r>
                      <a:r>
                        <a:rPr lang="en-US" i="0" u="sng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x-none" i="0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B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x-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B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DOB</a:t>
                      </a:r>
                      <a:endParaRPr lang="x-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B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EMAIL</a:t>
                      </a:r>
                      <a:endParaRPr lang="x-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B9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x-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B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924155"/>
                  </a:ext>
                </a:extLst>
              </a:tr>
              <a:tr h="5471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Ayesha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01-JAN-2001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aye@gmail.com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Sahiwal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840077"/>
                  </a:ext>
                </a:extLst>
              </a:tr>
              <a:tr h="5549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Eman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24-OCT-2000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ema@gmail.com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Lahore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86896"/>
                  </a:ext>
                </a:extLst>
              </a:tr>
              <a:tr h="5549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Fariha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19-DEC-2002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far@gmail.com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Sahiwal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486441"/>
                  </a:ext>
                </a:extLst>
              </a:tr>
            </a:tbl>
          </a:graphicData>
        </a:graphic>
      </p:graphicFrame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49E7677-2C49-3E24-2F86-3883023C7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9184" y="411480"/>
            <a:ext cx="521208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BBF571-6546-68F3-56F2-E0BF599A94CE}"/>
              </a:ext>
            </a:extLst>
          </p:cNvPr>
          <p:cNvSpPr txBox="1">
            <a:spLocks/>
          </p:cNvSpPr>
          <p:nvPr/>
        </p:nvSpPr>
        <p:spPr>
          <a:xfrm>
            <a:off x="1014414" y="2283730"/>
            <a:ext cx="196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STUDENT</a:t>
            </a:r>
            <a:endParaRPr lang="x-none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48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What are views?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2212848"/>
            <a:ext cx="10332720" cy="3547872"/>
          </a:xfrm>
        </p:spPr>
        <p:txBody>
          <a:bodyPr>
            <a:normAutofit/>
          </a:bodyPr>
          <a:lstStyle/>
          <a:p>
            <a:pPr marL="457200" indent="-457200"/>
            <a:r>
              <a:rPr lang="en-US" dirty="0"/>
              <a:t>SELECT roll#, name, email </a:t>
            </a:r>
          </a:p>
          <a:p>
            <a:pPr marL="0" indent="0">
              <a:buNone/>
            </a:pPr>
            <a:r>
              <a:rPr lang="en-US" dirty="0"/>
              <a:t>     FROM student;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49E7677-2C49-3E24-2F86-3883023C7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9184" y="411480"/>
            <a:ext cx="521208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B4791-B377-20B3-43D7-93959E5A107A}"/>
              </a:ext>
            </a:extLst>
          </p:cNvPr>
          <p:cNvSpPr txBox="1">
            <a:spLocks/>
          </p:cNvSpPr>
          <p:nvPr/>
        </p:nvSpPr>
        <p:spPr>
          <a:xfrm>
            <a:off x="1014414" y="3406830"/>
            <a:ext cx="196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STUDENT</a:t>
            </a:r>
            <a:endParaRPr lang="x-none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3D507776-1E71-4F39-E025-5C9247ED19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5962432"/>
              </p:ext>
            </p:extLst>
          </p:nvPr>
        </p:nvGraphicFramePr>
        <p:xfrm>
          <a:off x="1014414" y="3821769"/>
          <a:ext cx="5645694" cy="21839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96523">
                  <a:extLst>
                    <a:ext uri="{9D8B030D-6E8A-4147-A177-3AD203B41FA5}">
                      <a16:colId xmlns:a16="http://schemas.microsoft.com/office/drawing/2014/main" val="2160171521"/>
                    </a:ext>
                  </a:extLst>
                </a:gridCol>
                <a:gridCol w="1856096">
                  <a:extLst>
                    <a:ext uri="{9D8B030D-6E8A-4147-A177-3AD203B41FA5}">
                      <a16:colId xmlns:a16="http://schemas.microsoft.com/office/drawing/2014/main" val="1933931504"/>
                    </a:ext>
                  </a:extLst>
                </a:gridCol>
                <a:gridCol w="2593075">
                  <a:extLst>
                    <a:ext uri="{9D8B030D-6E8A-4147-A177-3AD203B41FA5}">
                      <a16:colId xmlns:a16="http://schemas.microsoft.com/office/drawing/2014/main" val="2747190109"/>
                    </a:ext>
                  </a:extLst>
                </a:gridCol>
              </a:tblGrid>
              <a:tr h="526779">
                <a:tc>
                  <a:txBody>
                    <a:bodyPr/>
                    <a:lstStyle/>
                    <a:p>
                      <a:pPr algn="ctr"/>
                      <a:r>
                        <a:rPr lang="en-US" u="sng" dirty="0">
                          <a:solidFill>
                            <a:schemeClr val="tx1"/>
                          </a:solidFill>
                        </a:rPr>
                        <a:t>ROLL</a:t>
                      </a:r>
                      <a:r>
                        <a:rPr lang="en-US" i="0" u="sng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x-none" i="0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B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x-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B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EMAIL</a:t>
                      </a:r>
                      <a:endParaRPr lang="x-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B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924155"/>
                  </a:ext>
                </a:extLst>
              </a:tr>
              <a:tr h="5471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Ayesha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aye@gmail.com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840077"/>
                  </a:ext>
                </a:extLst>
              </a:tr>
              <a:tr h="5549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Eman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ema@gmail.com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86896"/>
                  </a:ext>
                </a:extLst>
              </a:tr>
              <a:tr h="5549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Fariha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far@gmail.com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486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342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What are views?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2212848"/>
            <a:ext cx="10332720" cy="3547872"/>
          </a:xfrm>
        </p:spPr>
        <p:txBody>
          <a:bodyPr>
            <a:normAutofit/>
          </a:bodyPr>
          <a:lstStyle/>
          <a:p>
            <a:pPr marL="342900" indent="-342900"/>
            <a:endParaRPr lang="en-US" dirty="0"/>
          </a:p>
          <a:p>
            <a:pPr marL="0" indent="0">
              <a:buNone/>
            </a:pPr>
            <a:r>
              <a:rPr lang="en-US" dirty="0"/>
              <a:t>CREATE </a:t>
            </a:r>
            <a:r>
              <a:rPr lang="en-US" b="1" dirty="0">
                <a:solidFill>
                  <a:srgbClr val="F6A6F4"/>
                </a:solidFill>
              </a:rPr>
              <a:t>VIEW</a:t>
            </a:r>
            <a:r>
              <a:rPr lang="en-US" dirty="0"/>
              <a:t> </a:t>
            </a:r>
            <a:r>
              <a:rPr lang="en-US" dirty="0" err="1"/>
              <a:t>student_detail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6A6F4"/>
                </a:solidFill>
              </a:rPr>
              <a:t>AS</a:t>
            </a:r>
            <a:r>
              <a:rPr lang="en-US" dirty="0"/>
              <a:t> SELECT roll#, name, email FROM student 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49E7677-2C49-3E24-2F86-3883023C7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9184" y="411480"/>
            <a:ext cx="521208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93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What are views?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2212848"/>
            <a:ext cx="10332720" cy="3547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*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b="1" dirty="0" err="1">
                <a:solidFill>
                  <a:srgbClr val="F6A6F4"/>
                </a:solidFill>
              </a:rPr>
              <a:t>student_detail</a:t>
            </a:r>
            <a:r>
              <a:rPr lang="en-US" b="1" dirty="0">
                <a:solidFill>
                  <a:srgbClr val="F6A6F4"/>
                </a:solidFill>
              </a:rPr>
              <a:t> </a:t>
            </a:r>
            <a:r>
              <a:rPr lang="en-US" dirty="0"/>
              <a:t>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49E7677-2C49-3E24-2F86-3883023C7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9184" y="411480"/>
            <a:ext cx="521208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B4791-B377-20B3-43D7-93959E5A107A}"/>
              </a:ext>
            </a:extLst>
          </p:cNvPr>
          <p:cNvSpPr txBox="1">
            <a:spLocks/>
          </p:cNvSpPr>
          <p:nvPr/>
        </p:nvSpPr>
        <p:spPr>
          <a:xfrm>
            <a:off x="1014413" y="3406830"/>
            <a:ext cx="2164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STUDENT_DETAIL</a:t>
            </a:r>
            <a:endParaRPr lang="x-none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3D507776-1E71-4F39-E025-5C9247ED19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2387756"/>
              </p:ext>
            </p:extLst>
          </p:nvPr>
        </p:nvGraphicFramePr>
        <p:xfrm>
          <a:off x="1014414" y="3821769"/>
          <a:ext cx="5645694" cy="21839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96523">
                  <a:extLst>
                    <a:ext uri="{9D8B030D-6E8A-4147-A177-3AD203B41FA5}">
                      <a16:colId xmlns:a16="http://schemas.microsoft.com/office/drawing/2014/main" val="2160171521"/>
                    </a:ext>
                  </a:extLst>
                </a:gridCol>
                <a:gridCol w="1856096">
                  <a:extLst>
                    <a:ext uri="{9D8B030D-6E8A-4147-A177-3AD203B41FA5}">
                      <a16:colId xmlns:a16="http://schemas.microsoft.com/office/drawing/2014/main" val="1933931504"/>
                    </a:ext>
                  </a:extLst>
                </a:gridCol>
                <a:gridCol w="2593075">
                  <a:extLst>
                    <a:ext uri="{9D8B030D-6E8A-4147-A177-3AD203B41FA5}">
                      <a16:colId xmlns:a16="http://schemas.microsoft.com/office/drawing/2014/main" val="2747190109"/>
                    </a:ext>
                  </a:extLst>
                </a:gridCol>
              </a:tblGrid>
              <a:tr h="526779">
                <a:tc>
                  <a:txBody>
                    <a:bodyPr/>
                    <a:lstStyle/>
                    <a:p>
                      <a:pPr algn="ctr"/>
                      <a:r>
                        <a:rPr lang="en-US" u="sng" dirty="0">
                          <a:solidFill>
                            <a:schemeClr val="tx1"/>
                          </a:solidFill>
                        </a:rPr>
                        <a:t>ROLL</a:t>
                      </a:r>
                      <a:r>
                        <a:rPr lang="en-US" i="0" u="sng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x-none" i="0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B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x-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B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EMAIL</a:t>
                      </a:r>
                      <a:endParaRPr lang="x-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B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924155"/>
                  </a:ext>
                </a:extLst>
              </a:tr>
              <a:tr h="5471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Ayesha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aye@gmail.com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840077"/>
                  </a:ext>
                </a:extLst>
              </a:tr>
              <a:tr h="5549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Eman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ema@gmail.com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86896"/>
                  </a:ext>
                </a:extLst>
              </a:tr>
              <a:tr h="5549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Fariha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far@gmail.com</a:t>
                      </a:r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486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359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What are views?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2212848"/>
            <a:ext cx="10332720" cy="3547872"/>
          </a:xfrm>
        </p:spPr>
        <p:txBody>
          <a:bodyPr>
            <a:normAutofit/>
          </a:bodyPr>
          <a:lstStyle/>
          <a:p>
            <a:pPr marL="342900" indent="-342900"/>
            <a:endParaRPr lang="en-US" dirty="0"/>
          </a:p>
          <a:p>
            <a:pPr marL="0" indent="0">
              <a:buNone/>
            </a:pPr>
            <a:r>
              <a:rPr lang="en-US" dirty="0"/>
              <a:t>SELECT dob, city </a:t>
            </a:r>
          </a:p>
          <a:p>
            <a:pPr marL="0" indent="0">
              <a:buNone/>
            </a:pPr>
            <a:r>
              <a:rPr lang="en-US" dirty="0"/>
              <a:t>FROM student;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49E7677-2C49-3E24-2F86-3883023C7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9184" y="411480"/>
            <a:ext cx="521208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1D6FD25-538C-34F6-BB7F-AB69E5C560AE}"/>
              </a:ext>
            </a:extLst>
          </p:cNvPr>
          <p:cNvCxnSpPr/>
          <p:nvPr/>
        </p:nvCxnSpPr>
        <p:spPr>
          <a:xfrm>
            <a:off x="4516582" y="3311236"/>
            <a:ext cx="74814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D38A61-8DB3-9B59-F8F1-B183451B2CEC}"/>
              </a:ext>
            </a:extLst>
          </p:cNvPr>
          <p:cNvSpPr txBox="1"/>
          <p:nvPr/>
        </p:nvSpPr>
        <p:spPr>
          <a:xfrm>
            <a:off x="5390527" y="3126570"/>
            <a:ext cx="900545" cy="369332"/>
          </a:xfrm>
          <a:prstGeom prst="rect">
            <a:avLst/>
          </a:prstGeom>
          <a:solidFill>
            <a:srgbClr val="DA0000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ERROR</a:t>
            </a:r>
            <a:endParaRPr lang="x-none" b="1" dirty="0"/>
          </a:p>
        </p:txBody>
      </p:sp>
    </p:spTree>
    <p:extLst>
      <p:ext uri="{BB962C8B-B14F-4D97-AF65-F5344CB8AC3E}">
        <p14:creationId xmlns:p14="http://schemas.microsoft.com/office/powerpoint/2010/main" val="809792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do we use views?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Because that’s Fancy! JK</a:t>
            </a:r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">
            <a:extLst>
              <a:ext uri="{FF2B5EF4-FFF2-40B4-BE49-F238E27FC236}">
                <a16:creationId xmlns:a16="http://schemas.microsoft.com/office/drawing/2014/main" id="{0B07383B-6310-56A6-B051-F4B962E1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views?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C0096BCE-2277-0E93-E2A1-636C573560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0968444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856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create views in oracle?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Don’t worry it’s so easy ( ;</a:t>
            </a:r>
          </a:p>
        </p:txBody>
      </p:sp>
    </p:spTree>
    <p:extLst>
      <p:ext uri="{BB962C8B-B14F-4D97-AF65-F5344CB8AC3E}">
        <p14:creationId xmlns:p14="http://schemas.microsoft.com/office/powerpoint/2010/main" val="1469265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How to create views in oracle?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2212848"/>
            <a:ext cx="10332720" cy="3547872"/>
          </a:xfrm>
        </p:spPr>
        <p:txBody>
          <a:bodyPr>
            <a:normAutofit/>
          </a:bodyPr>
          <a:lstStyle/>
          <a:p>
            <a:pPr marL="342900" indent="-342900"/>
            <a:r>
              <a:rPr lang="en-US" u="sng" dirty="0">
                <a:solidFill>
                  <a:srgbClr val="F6A6F4"/>
                </a:solidFill>
              </a:rPr>
              <a:t>Syntax</a:t>
            </a:r>
          </a:p>
          <a:p>
            <a:pPr marL="0" indent="0">
              <a:buNone/>
            </a:pPr>
            <a:r>
              <a:rPr lang="en-US" b="1" dirty="0"/>
              <a:t>CREATE</a:t>
            </a:r>
            <a:r>
              <a:rPr lang="en-US" dirty="0"/>
              <a:t> </a:t>
            </a:r>
            <a:r>
              <a:rPr lang="en-US" b="1" dirty="0"/>
              <a:t>VIEW</a:t>
            </a:r>
            <a:r>
              <a:rPr lang="en-US" b="1" dirty="0">
                <a:solidFill>
                  <a:srgbClr val="A2FCA2"/>
                </a:solidFill>
              </a:rPr>
              <a:t> </a:t>
            </a:r>
            <a:r>
              <a:rPr lang="en-US" b="1" dirty="0" err="1">
                <a:solidFill>
                  <a:srgbClr val="A2FCA2"/>
                </a:solidFill>
              </a:rPr>
              <a:t>view_name</a:t>
            </a:r>
            <a:r>
              <a:rPr lang="en-US" b="1" dirty="0">
                <a:solidFill>
                  <a:srgbClr val="A2FCA2"/>
                </a:solidFill>
              </a:rPr>
              <a:t> </a:t>
            </a:r>
            <a:r>
              <a:rPr lang="en-US" b="1" dirty="0"/>
              <a:t>AS</a:t>
            </a:r>
            <a:br>
              <a:rPr lang="en-US" dirty="0"/>
            </a:br>
            <a:r>
              <a:rPr lang="en-US" b="1" dirty="0"/>
              <a:t>SELECT</a:t>
            </a:r>
            <a:r>
              <a:rPr lang="en-US" dirty="0"/>
              <a:t> column1, column2, ...</a:t>
            </a:r>
            <a:br>
              <a:rPr lang="en-US" dirty="0"/>
            </a:br>
            <a:r>
              <a:rPr lang="en-US" b="1" dirty="0"/>
              <a:t>FROM</a:t>
            </a:r>
            <a:r>
              <a:rPr lang="en-US" dirty="0"/>
              <a:t> </a:t>
            </a:r>
            <a:r>
              <a:rPr lang="en-US" dirty="0" err="1"/>
              <a:t>table_name</a:t>
            </a:r>
            <a:br>
              <a:rPr lang="en-US" dirty="0"/>
            </a:br>
            <a:r>
              <a:rPr lang="en-US" b="1" dirty="0"/>
              <a:t>WHERE</a:t>
            </a:r>
            <a:r>
              <a:rPr lang="en-US" dirty="0"/>
              <a:t> condition;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49E7677-2C49-3E24-2F86-3883023C7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9184" y="411480"/>
            <a:ext cx="521208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12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How to create views in oracle?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2212848"/>
            <a:ext cx="10332720" cy="3547872"/>
          </a:xfrm>
        </p:spPr>
        <p:txBody>
          <a:bodyPr>
            <a:normAutofit/>
          </a:bodyPr>
          <a:lstStyle/>
          <a:p>
            <a:pPr marL="457200" indent="-457200"/>
            <a:r>
              <a:rPr lang="en-US" u="sng" dirty="0">
                <a:solidFill>
                  <a:srgbClr val="F6A6F4"/>
                </a:solidFill>
              </a:rPr>
              <a:t>Example:</a:t>
            </a:r>
            <a:r>
              <a:rPr lang="en-US" dirty="0">
                <a:solidFill>
                  <a:srgbClr val="F6A6F4"/>
                </a:solidFill>
              </a:rPr>
              <a:t> </a:t>
            </a:r>
            <a:r>
              <a:rPr lang="en-US" dirty="0"/>
              <a:t>( creating a view ‘Summary’)</a:t>
            </a:r>
          </a:p>
          <a:p>
            <a:pPr marL="0" indent="0">
              <a:buNone/>
            </a:pPr>
            <a:r>
              <a:rPr lang="en-US" dirty="0"/>
              <a:t>CREATE VIEW </a:t>
            </a:r>
            <a:r>
              <a:rPr lang="en-US" b="1" dirty="0">
                <a:solidFill>
                  <a:srgbClr val="A2FCA2"/>
                </a:solidFill>
              </a:rPr>
              <a:t>Summary</a:t>
            </a:r>
            <a:r>
              <a:rPr lang="en-US" dirty="0"/>
              <a:t> AS</a:t>
            </a:r>
            <a:br>
              <a:rPr lang="en-US" dirty="0"/>
            </a:br>
            <a:r>
              <a:rPr lang="en-US" dirty="0"/>
              <a:t>SELECT </a:t>
            </a:r>
            <a:r>
              <a:rPr lang="en-US" dirty="0" err="1"/>
              <a:t>SId</a:t>
            </a:r>
            <a:r>
              <a:rPr lang="en-US" dirty="0"/>
              <a:t>, </a:t>
            </a:r>
            <a:r>
              <a:rPr lang="en-US" dirty="0" err="1"/>
              <a:t>Sname</a:t>
            </a:r>
            <a:r>
              <a:rPr lang="en-US" dirty="0"/>
              <a:t>, GPA</a:t>
            </a:r>
            <a:br>
              <a:rPr lang="en-US" dirty="0"/>
            </a:br>
            <a:r>
              <a:rPr lang="en-US" dirty="0"/>
              <a:t>FROM Student;</a:t>
            </a:r>
          </a:p>
          <a:p>
            <a:pPr marL="0" indent="0">
              <a:buNone/>
            </a:pPr>
            <a:endParaRPr lang="en-US" dirty="0"/>
          </a:p>
          <a:p>
            <a:pPr marL="457200" indent="-457200"/>
            <a:r>
              <a:rPr lang="en-US" u="sng" dirty="0">
                <a:solidFill>
                  <a:srgbClr val="F6A6F4"/>
                </a:solidFill>
              </a:rPr>
              <a:t>How to see data from view:</a:t>
            </a:r>
          </a:p>
          <a:p>
            <a:pPr marL="0" indent="0">
              <a:buNone/>
            </a:pPr>
            <a:r>
              <a:rPr lang="en-US" dirty="0"/>
              <a:t>SELECT * from </a:t>
            </a:r>
            <a:r>
              <a:rPr lang="en-US" b="1" dirty="0">
                <a:solidFill>
                  <a:srgbClr val="A2FCA2"/>
                </a:solidFill>
              </a:rPr>
              <a:t>Summary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49E7677-2C49-3E24-2F86-3883023C7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9184" y="411480"/>
            <a:ext cx="521208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28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 of 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There are </a:t>
            </a:r>
            <a:r>
              <a:rPr lang="en-US" b="1" i="1" dirty="0">
                <a:solidFill>
                  <a:srgbClr val="F6A6F4"/>
                </a:solidFill>
              </a:rPr>
              <a:t>only two</a:t>
            </a:r>
            <a:r>
              <a:rPr lang="en-US" dirty="0"/>
              <a:t> major types of view.</a:t>
            </a:r>
            <a:endParaRPr lang="en-US" b="1" i="1" dirty="0">
              <a:solidFill>
                <a:srgbClr val="F6A6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750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Types of view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49E7677-2C49-3E24-2F86-3883023C7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9184" y="411480"/>
            <a:ext cx="521208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037985E8-0E65-462F-7DC9-6180FF5785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46119"/>
              </p:ext>
            </p:extLst>
          </p:nvPr>
        </p:nvGraphicFramePr>
        <p:xfrm>
          <a:off x="1014413" y="2212975"/>
          <a:ext cx="10333037" cy="3548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4720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BC92-868A-26B2-CBC0-C9D94E65F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1267263"/>
            <a:ext cx="7735824" cy="1069848"/>
          </a:xfrm>
        </p:spPr>
        <p:txBody>
          <a:bodyPr/>
          <a:lstStyle/>
          <a:p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  <a:ea typeface="Verdana" panose="020B0604030504040204" pitchFamily="34" charset="0"/>
              </a:rPr>
              <a:t>Points to remember</a:t>
            </a:r>
            <a:endParaRPr lang="en-US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203656D-E824-E052-35FB-DF8B255759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161442"/>
              </p:ext>
            </p:extLst>
          </p:nvPr>
        </p:nvGraphicFramePr>
        <p:xfrm>
          <a:off x="1921491" y="2803864"/>
          <a:ext cx="8349018" cy="2786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3266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BC92-868A-26B2-CBC0-C9D94E65F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SUMMARY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C1627-7A56-025E-482D-E2AB014EDF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759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221</TotalTime>
  <Words>654</Words>
  <Application>Microsoft Office PowerPoint</Application>
  <PresentationFormat>Widescreen</PresentationFormat>
  <Paragraphs>142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Courier New</vt:lpstr>
      <vt:lpstr>Segoe UI Light</vt:lpstr>
      <vt:lpstr>Times New Roman</vt:lpstr>
      <vt:lpstr>Tw Cen MT</vt:lpstr>
      <vt:lpstr>Office Theme</vt:lpstr>
      <vt:lpstr>Views in database</vt:lpstr>
      <vt:lpstr>CONTENTS</vt:lpstr>
      <vt:lpstr>What are views?</vt:lpstr>
      <vt:lpstr>What are views?</vt:lpstr>
      <vt:lpstr>What are views?</vt:lpstr>
      <vt:lpstr>What are views?</vt:lpstr>
      <vt:lpstr>What are views?</vt:lpstr>
      <vt:lpstr>What are views?</vt:lpstr>
      <vt:lpstr>What are views?</vt:lpstr>
      <vt:lpstr>What are views?</vt:lpstr>
      <vt:lpstr>Why do we use views?</vt:lpstr>
      <vt:lpstr>Why do we use views?</vt:lpstr>
      <vt:lpstr>How to create views in oracle?</vt:lpstr>
      <vt:lpstr>How to create views in oracle?</vt:lpstr>
      <vt:lpstr>How to create views in oracle?</vt:lpstr>
      <vt:lpstr>Types of view</vt:lpstr>
      <vt:lpstr>Types of view</vt:lpstr>
      <vt:lpstr>Points to remember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Views in database</dc:title>
  <dc:creator>Ishwa Rashid</dc:creator>
  <cp:lastModifiedBy>Mirza Awais Raza</cp:lastModifiedBy>
  <cp:revision>7</cp:revision>
  <dcterms:created xsi:type="dcterms:W3CDTF">2022-12-12T18:00:09Z</dcterms:created>
  <dcterms:modified xsi:type="dcterms:W3CDTF">2026-06-09T02:13:15Z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