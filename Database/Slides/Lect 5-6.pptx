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37" r:id="rId1"/>
  </p:sldMasterIdLst>
  <p:notesMasterIdLst>
    <p:notesMasterId r:id="rId15"/>
  </p:notesMasterIdLst>
  <p:handoutMasterIdLst>
    <p:handoutMasterId r:id="rId16"/>
  </p:handoutMasterIdLst>
  <p:sldIdLst>
    <p:sldId id="334" r:id="rId2"/>
    <p:sldId id="257" r:id="rId3"/>
    <p:sldId id="332" r:id="rId4"/>
    <p:sldId id="335" r:id="rId5"/>
    <p:sldId id="258" r:id="rId6"/>
    <p:sldId id="259" r:id="rId7"/>
    <p:sldId id="260" r:id="rId8"/>
    <p:sldId id="261" r:id="rId9"/>
    <p:sldId id="306" r:id="rId10"/>
    <p:sldId id="262" r:id="rId11"/>
    <p:sldId id="263" r:id="rId12"/>
    <p:sldId id="307" r:id="rId13"/>
    <p:sldId id="333" r:id="rId14"/>
  </p:sldIdLst>
  <p:sldSz cx="9144000" cy="6858000" type="screen4x3"/>
  <p:notesSz cx="6858000" cy="91440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00"/>
    <a:srgbClr val="0066FF"/>
    <a:srgbClr val="990000"/>
    <a:srgbClr val="000000"/>
    <a:srgbClr val="00CCFF"/>
    <a:srgbClr val="00FF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0" autoAdjust="0"/>
    <p:restoredTop sz="77419" autoAdjust="0"/>
  </p:normalViewPr>
  <p:slideViewPr>
    <p:cSldViewPr snapToGrid="0">
      <p:cViewPr varScale="1">
        <p:scale>
          <a:sx n="61" d="100"/>
          <a:sy n="61" d="100"/>
        </p:scale>
        <p:origin x="143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3" d="100"/>
          <a:sy n="53" d="100"/>
        </p:scale>
        <p:origin x="-192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6.xml"/><Relationship Id="rId2" Type="http://schemas.openxmlformats.org/officeDocument/2006/relationships/slide" Target="slides/slide5.xml"/><Relationship Id="rId1" Type="http://schemas.openxmlformats.org/officeDocument/2006/relationships/slide" Target="slides/slide2.xml"/><Relationship Id="rId5" Type="http://schemas.openxmlformats.org/officeDocument/2006/relationships/slide" Target="slides/slide10.xml"/><Relationship Id="rId4" Type="http://schemas.openxmlformats.org/officeDocument/2006/relationships/slide" Target="slides/slide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34194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9350" y="692150"/>
            <a:ext cx="455930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425813529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0620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02109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6853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5347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7246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1045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605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30289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6125" cy="3416300"/>
          </a:xfrm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16426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76400"/>
            <a:ext cx="7772400" cy="1828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9507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quarter" idx="10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DEFBA4-88EE-47A6-BAE9-205E1DDDB9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9450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250776-72B7-4051-A030-0BC26B3487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773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6B3E68-FE29-4A83-8EFB-79BFC86FE2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476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519048-DF82-498D-9E6B-0F10B7FFF8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6474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9FAD4E-7B9F-4D6A-88E3-882C4BA48D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092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5905CF-14EC-4E77-A798-7591CEF2FA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4777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6EDA0B-B171-4E4A-80C1-4CD1EADE53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9681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865779-8CA5-4052-AA70-1157419032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0594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3BA657-5D83-4EF9-8689-753C3979C98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0800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0760C6-A7CD-4382-9263-3443A7C7C3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32389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81000"/>
            <a:ext cx="2057400" cy="5715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019800" cy="57150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127EC2-1E30-482D-8842-41D99F1FEE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9909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hlink"/>
            </a:gs>
            <a:gs pos="100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810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848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DCB9D8EA-DB23-4EC6-9E96-5404EF89A4A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856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65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65000"/>
        <a:buFont typeface="Wingdings" panose="05000000000000000000" pitchFamily="2" charset="2"/>
        <a:buChar char="n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65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2483" y="0"/>
            <a:ext cx="8229600" cy="1371600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Overview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7869"/>
            <a:ext cx="8229600" cy="5463606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Relation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Properties of Relation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Correspondence of terms with E-R Model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Keys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Integrity Constraints 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dirty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Mapping Regular Entity into Relation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50776-72B7-4051-A030-0BC26B3487F1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811119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5F7A8CBD-020A-4F3F-8C21-EE4CC460B14C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2</a:t>
            </a:fld>
            <a:endParaRPr lang="en-US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53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0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Relation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143000"/>
            <a:ext cx="8458200" cy="4343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Definition: A relation is a named, two-dimensional table of data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Table consists of rows (records) and columns (attribute or field)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Requirements for a table to qualify as a relation: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It must have a unique name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Every attribute value must be atomic (not multivalued, not composite)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Every row must be unique (can’t have two rows with exactly the same values for all their fields)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Attributes (columns) in tables must have unique names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The order of the columns must be irrelevant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US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The order of the rows must be irrelevant</a:t>
            </a:r>
          </a:p>
          <a:p>
            <a:pPr lvl="1" eaLnBrk="1" hangingPunct="1">
              <a:lnSpc>
                <a:spcPct val="80000"/>
              </a:lnSpc>
              <a:defRPr/>
            </a:pPr>
            <a:endParaRPr lang="en-US" sz="2000" dirty="0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algn="ctr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r>
              <a:rPr lang="en-US" sz="2400" dirty="0" smtClean="0">
                <a:solidFill>
                  <a:srgbClr val="990000"/>
                </a:solidFill>
              </a:rPr>
              <a:t>NOTE: all </a:t>
            </a:r>
            <a:r>
              <a:rPr lang="en-US" sz="2400" i="1" dirty="0" smtClean="0">
                <a:solidFill>
                  <a:srgbClr val="990000"/>
                </a:solidFill>
              </a:rPr>
              <a:t>relations</a:t>
            </a:r>
            <a:r>
              <a:rPr lang="en-US" sz="2400" dirty="0" smtClean="0">
                <a:solidFill>
                  <a:srgbClr val="990000"/>
                </a:solidFill>
              </a:rPr>
              <a:t> are in  </a:t>
            </a:r>
            <a:r>
              <a:rPr lang="en-US" b="1" i="1" dirty="0" smtClean="0">
                <a:solidFill>
                  <a:srgbClr val="990000"/>
                </a:solidFill>
              </a:rPr>
              <a:t>1</a:t>
            </a:r>
            <a:r>
              <a:rPr lang="en-US" b="1" i="1" baseline="30000" dirty="0" smtClean="0">
                <a:solidFill>
                  <a:srgbClr val="990000"/>
                </a:solidFill>
              </a:rPr>
              <a:t>st</a:t>
            </a:r>
            <a:r>
              <a:rPr lang="en-US" b="1" i="1" dirty="0" smtClean="0">
                <a:solidFill>
                  <a:srgbClr val="990000"/>
                </a:solidFill>
              </a:rPr>
              <a:t> Normal form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5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5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347" grpId="0" build="p" bldLvl="2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Mathematical 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2600"/>
            <a:ext cx="8229600" cy="4738352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effectLst/>
              </a:rPr>
              <a:t>The order of columns in mathematical relations does matter, </a:t>
            </a:r>
            <a:r>
              <a:rPr lang="en-US" dirty="0">
                <a:solidFill>
                  <a:srgbClr val="000000"/>
                </a:solidFill>
                <a:effectLst/>
              </a:rPr>
              <a:t>whereas in database relations it does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smtClean="0">
                <a:solidFill>
                  <a:srgbClr val="000000"/>
                </a:solidFill>
                <a:effectLst/>
              </a:rPr>
              <a:t>  not</a:t>
            </a:r>
            <a:r>
              <a:rPr lang="en-US" dirty="0">
                <a:solidFill>
                  <a:srgbClr val="000000"/>
                </a:solidFill>
                <a:effectLst/>
              </a:rPr>
              <a:t> matter.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000000"/>
                </a:solidFill>
                <a:effectLst/>
              </a:rPr>
              <a:t>A math relation is a Cartesian product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000000"/>
                </a:solidFill>
                <a:effectLst/>
              </a:rPr>
              <a:t>of two sets</a:t>
            </a:r>
            <a:r>
              <a:rPr lang="en-US" dirty="0" smtClean="0">
                <a:solidFill>
                  <a:srgbClr val="000000"/>
                </a:solidFill>
                <a:effectLst/>
              </a:rPr>
              <a:t>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 smtClean="0">
                <a:solidFill>
                  <a:srgbClr val="000000"/>
                </a:solidFill>
                <a:effectLst/>
              </a:rPr>
              <a:t>So if we change the order of these two sets then the outcome</a:t>
            </a:r>
            <a:r>
              <a:rPr lang="en-US" dirty="0">
                <a:solidFill>
                  <a:srgbClr val="000000"/>
                </a:solidFill>
                <a:effectLst/>
              </a:rPr>
              <a:t> of both will not be same.  </a:t>
            </a:r>
            <a:endParaRPr lang="en-US" dirty="0" smtClean="0">
              <a:solidFill>
                <a:srgbClr val="000000"/>
              </a:solidFill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50776-72B7-4051-A030-0BC26B3487F1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817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Mathematical Relation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981200"/>
            <a:ext cx="8403465" cy="411480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dirty="0">
                <a:solidFill>
                  <a:srgbClr val="000000"/>
                </a:solidFill>
                <a:effectLst/>
              </a:rPr>
              <a:t>Therefore, the math relation changes by 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dirty="0">
                <a:solidFill>
                  <a:srgbClr val="000000"/>
                </a:solidFill>
                <a:effectLst/>
              </a:rPr>
              <a:t>changing the order of columns.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dirty="0">
                <a:solidFill>
                  <a:srgbClr val="000000"/>
                </a:solidFill>
                <a:effectLst/>
              </a:rPr>
              <a:t>For Example , if there </a:t>
            </a:r>
            <a:r>
              <a:rPr lang="en-US" dirty="0" smtClean="0">
                <a:solidFill>
                  <a:srgbClr val="000000"/>
                </a:solidFill>
                <a:effectLst/>
              </a:rPr>
              <a:t>is a</a:t>
            </a:r>
            <a:r>
              <a:rPr lang="en-US" dirty="0">
                <a:solidFill>
                  <a:srgbClr val="000000"/>
                </a:solidFill>
                <a:effectLst/>
              </a:rPr>
              <a:t> set A and a set B if we take Cartesian product of A and B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smtClean="0">
                <a:solidFill>
                  <a:srgbClr val="000000"/>
                </a:solidFill>
                <a:effectLst/>
              </a:rPr>
              <a:t>  then</a:t>
            </a:r>
            <a:r>
              <a:rPr lang="en-US" dirty="0">
                <a:solidFill>
                  <a:srgbClr val="000000"/>
                </a:solidFill>
                <a:effectLst/>
              </a:rPr>
              <a:t> we take Cartesian product </a:t>
            </a:r>
            <a:r>
              <a:rPr lang="en-US" dirty="0" smtClean="0">
                <a:solidFill>
                  <a:srgbClr val="000000"/>
                </a:solidFill>
                <a:effectLst/>
              </a:rPr>
              <a:t>of </a:t>
            </a:r>
          </a:p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dirty="0">
                <a:solidFill>
                  <a:srgbClr val="000000"/>
                </a:solidFill>
                <a:effectLst/>
              </a:rPr>
              <a:t> </a:t>
            </a:r>
            <a:r>
              <a:rPr lang="en-US" dirty="0" smtClean="0">
                <a:solidFill>
                  <a:srgbClr val="000000"/>
                </a:solidFill>
                <a:effectLst/>
              </a:rPr>
              <a:t>  B and A they will not be equal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50776-72B7-4051-A030-0BC26B3487F1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3313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B5146CF0-61DE-494A-AFE9-9173EC55C9F1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5</a:t>
            </a:fld>
            <a:endParaRPr lang="en-US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637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17475"/>
            <a:ext cx="8229600" cy="1371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Correspondence with E-R Model</a:t>
            </a:r>
          </a:p>
        </p:txBody>
      </p:sp>
      <p:sp>
        <p:nvSpPr>
          <p:cNvPr id="186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638300"/>
            <a:ext cx="8458200" cy="44577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8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Relations</a:t>
            </a:r>
            <a:r>
              <a:rPr lang="en-US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(tables) correspond with entity types and with many-to-many relationship types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2800" dirty="0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Rows</a:t>
            </a:r>
            <a:r>
              <a:rPr lang="en-US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correspond with entity instances and with many-to-many relationship instances</a:t>
            </a:r>
          </a:p>
          <a:p>
            <a:pPr marL="0" indent="0" eaLnBrk="1" hangingPunct="1">
              <a:lnSpc>
                <a:spcPct val="90000"/>
              </a:lnSpc>
              <a:buFont typeface="Wingdings" panose="05000000000000000000" pitchFamily="2" charset="2"/>
              <a:buNone/>
              <a:defRPr/>
            </a:pPr>
            <a:endParaRPr lang="en-US" sz="2800" dirty="0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8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Columns </a:t>
            </a:r>
            <a:r>
              <a:rPr lang="en-US" sz="2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correspond with attributes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sz="25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The word </a:t>
            </a:r>
            <a:r>
              <a:rPr lang="en-US" sz="2500" b="1" i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relation</a:t>
            </a:r>
            <a:r>
              <a:rPr lang="en-US" sz="25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(in relational database) is NOT the same as the word </a:t>
            </a:r>
            <a:r>
              <a:rPr lang="en-US" sz="2500" b="1" i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relationship</a:t>
            </a:r>
            <a:r>
              <a:rPr lang="en-US" sz="25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(in E-R model)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6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6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6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6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1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0FFFACE6-546E-4348-998E-DAC702BF81C1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6</a:t>
            </a:fld>
            <a:endParaRPr lang="en-US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7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98438"/>
            <a:ext cx="3270250" cy="1371600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Key Fields</a:t>
            </a:r>
          </a:p>
        </p:txBody>
      </p:sp>
      <p:sp>
        <p:nvSpPr>
          <p:cNvPr id="187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350963"/>
            <a:ext cx="8688388" cy="5190514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None/>
              <a:defRPr/>
            </a:pP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Keys are special fields that serve two main purposes: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sz="25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Primary key</a:t>
            </a:r>
            <a:r>
              <a:rPr lang="en-US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: 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 attribute or a combination of attributes that uniquely identifies each row in a relation.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is a </a:t>
            </a:r>
            <a:r>
              <a:rPr lang="en-US" sz="2500" u="sng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unique</a:t>
            </a:r>
            <a:r>
              <a:rPr lang="en-US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identifier of the relation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Examples include employee numbers, social     </a:t>
            </a:r>
          </a:p>
          <a:p>
            <a:pPr marL="457200" lvl="1" indent="0" eaLnBrk="1" hangingPunct="1">
              <a:lnSpc>
                <a:spcPct val="90000"/>
              </a:lnSpc>
              <a:buNone/>
              <a:defRPr/>
            </a:pPr>
            <a:r>
              <a:rPr lang="en-US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    security numbers, etc. </a:t>
            </a:r>
          </a:p>
          <a:p>
            <a:pPr marL="341313" lvl="1" eaLnBrk="1" hangingPunct="1">
              <a:lnSpc>
                <a:spcPct val="90000"/>
              </a:lnSpc>
              <a:defRPr/>
            </a:pPr>
            <a:r>
              <a:rPr lang="en-US" sz="2500" b="1" i="1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Foreign key </a:t>
            </a:r>
            <a:r>
              <a:rPr lang="en-US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: </a:t>
            </a:r>
          </a:p>
          <a:p>
            <a:pPr marL="855663"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 attribute in a relation that serves as the primary key of another relation in the same database.</a:t>
            </a:r>
          </a:p>
          <a:p>
            <a:pPr marL="855663" lvl="2" indent="-342900" eaLnBrk="1" hangingPunct="1">
              <a:lnSpc>
                <a:spcPct val="90000"/>
              </a:lnSpc>
              <a:buFont typeface="Wingdings" panose="05000000000000000000" pitchFamily="2" charset="2"/>
              <a:buChar char="q"/>
              <a:defRPr/>
            </a:pPr>
            <a:r>
              <a:rPr lang="en-US" sz="21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E</a:t>
            </a:r>
            <a:r>
              <a:rPr lang="en-US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nable a </a:t>
            </a:r>
            <a:r>
              <a:rPr lang="en-US" sz="2500" u="sng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dependent</a:t>
            </a:r>
            <a:r>
              <a:rPr lang="en-US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relation (on the many side of a relationship) to refer to its </a:t>
            </a:r>
            <a:r>
              <a:rPr lang="en-US" sz="2500" u="sng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parent</a:t>
            </a:r>
            <a:r>
              <a:rPr lang="en-US" sz="25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relation (on the one side of the relationship)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graphicFrame>
        <p:nvGraphicFramePr>
          <p:cNvPr id="12293" name="Object 4">
            <a:hlinkClick r:id="" action="ppaction://ole?verb=0"/>
          </p:cNvPr>
          <p:cNvGraphicFramePr>
            <a:graphicFrameLocks/>
          </p:cNvGraphicFramePr>
          <p:nvPr/>
        </p:nvGraphicFramePr>
        <p:xfrm>
          <a:off x="6934200" y="381000"/>
          <a:ext cx="1738313" cy="129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2" name="Microsoft ClipArt Gallery" r:id="rId4" imgW="3344863" imgH="2476500" progId="MS_ClipArt_Gallery">
                  <p:embed/>
                </p:oleObj>
              </mc:Choice>
              <mc:Fallback>
                <p:oleObj name="Microsoft ClipArt Gallery" r:id="rId4" imgW="3344863" imgH="2476500" progId="MS_ClipArt_Gallery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34200" y="381000"/>
                        <a:ext cx="1738313" cy="129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3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3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3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3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3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8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3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187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3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87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73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7395" grpId="0" build="p" bldLvl="2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6DCA5A58-0524-4363-B8BD-E4877A0F81CF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7</a:t>
            </a:fld>
            <a:endParaRPr lang="en-US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14339" name="Picture 23" descr="CAP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066800"/>
            <a:ext cx="8516937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9"/>
          <p:cNvGrpSpPr>
            <a:grpSpLocks/>
          </p:cNvGrpSpPr>
          <p:nvPr/>
        </p:nvGrpSpPr>
        <p:grpSpPr bwMode="auto">
          <a:xfrm>
            <a:off x="609600" y="1301750"/>
            <a:ext cx="5421313" cy="1171575"/>
            <a:chOff x="384" y="820"/>
            <a:chExt cx="3415" cy="738"/>
          </a:xfrm>
        </p:grpSpPr>
        <p:sp>
          <p:nvSpPr>
            <p:cNvPr id="14350" name="Oval 6"/>
            <p:cNvSpPr>
              <a:spLocks noChangeArrowheads="1"/>
            </p:cNvSpPr>
            <p:nvPr/>
          </p:nvSpPr>
          <p:spPr bwMode="auto">
            <a:xfrm>
              <a:off x="384" y="820"/>
              <a:ext cx="1008" cy="428"/>
            </a:xfrm>
            <a:prstGeom prst="ellips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grpSp>
          <p:nvGrpSpPr>
            <p:cNvPr id="14351" name="Group 7"/>
            <p:cNvGrpSpPr>
              <a:grpSpLocks/>
            </p:cNvGrpSpPr>
            <p:nvPr/>
          </p:nvGrpSpPr>
          <p:grpSpPr bwMode="auto">
            <a:xfrm>
              <a:off x="1206" y="1200"/>
              <a:ext cx="2593" cy="358"/>
              <a:chOff x="1248" y="1200"/>
              <a:chExt cx="2720" cy="417"/>
            </a:xfrm>
          </p:grpSpPr>
          <p:sp>
            <p:nvSpPr>
              <p:cNvPr id="14352" name="Line 8"/>
              <p:cNvSpPr>
                <a:spLocks noChangeShapeType="1"/>
              </p:cNvSpPr>
              <p:nvPr/>
            </p:nvSpPr>
            <p:spPr bwMode="auto">
              <a:xfrm flipH="1" flipV="1">
                <a:off x="1248" y="1200"/>
                <a:ext cx="1392" cy="240"/>
              </a:xfrm>
              <a:prstGeom prst="line">
                <a:avLst/>
              </a:prstGeom>
              <a:noFill/>
              <a:ln w="28575">
                <a:solidFill>
                  <a:srgbClr val="990000"/>
                </a:solidFill>
                <a:round/>
                <a:headEnd/>
                <a:tailEnd type="triangle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3" name="Text Box 9"/>
              <p:cNvSpPr txBox="1">
                <a:spLocks noChangeArrowheads="1"/>
              </p:cNvSpPr>
              <p:nvPr/>
            </p:nvSpPr>
            <p:spPr bwMode="auto">
              <a:xfrm>
                <a:off x="2726" y="1259"/>
                <a:ext cx="1242" cy="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1"/>
                  </a:buClr>
                  <a:buSzPct val="65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1"/>
                  </a:buClr>
                  <a:buSzPct val="6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bg1"/>
                  </a:buClr>
                  <a:buSzPct val="65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bg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bg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bg1"/>
                  </a:buClr>
                  <a:buSzPct val="6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  <a:cs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 sz="2600">
                    <a:solidFill>
                      <a:srgbClr val="990000"/>
                    </a:solidFill>
                    <a:latin typeface="Times New Roman" panose="02020603050405020304" pitchFamily="18" charset="0"/>
                  </a:rPr>
                  <a:t>Primary Key</a:t>
                </a:r>
              </a:p>
            </p:txBody>
          </p:sp>
        </p:grp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3124200" y="2451100"/>
            <a:ext cx="5702300" cy="977900"/>
            <a:chOff x="1968" y="1544"/>
            <a:chExt cx="3592" cy="616"/>
          </a:xfrm>
        </p:grpSpPr>
        <p:sp>
          <p:nvSpPr>
            <p:cNvPr id="14347" name="Oval 11"/>
            <p:cNvSpPr>
              <a:spLocks noChangeArrowheads="1"/>
            </p:cNvSpPr>
            <p:nvPr/>
          </p:nvSpPr>
          <p:spPr bwMode="auto">
            <a:xfrm>
              <a:off x="1968" y="1592"/>
              <a:ext cx="864" cy="451"/>
            </a:xfrm>
            <a:prstGeom prst="ellips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48" name="Line 12"/>
            <p:cNvSpPr>
              <a:spLocks noChangeShapeType="1"/>
            </p:cNvSpPr>
            <p:nvPr/>
          </p:nvSpPr>
          <p:spPr bwMode="auto">
            <a:xfrm flipH="1" flipV="1">
              <a:off x="2832" y="1832"/>
              <a:ext cx="966" cy="2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9" name="Text Box 13"/>
            <p:cNvSpPr txBox="1">
              <a:spLocks noChangeArrowheads="1"/>
            </p:cNvSpPr>
            <p:nvPr/>
          </p:nvSpPr>
          <p:spPr bwMode="auto">
            <a:xfrm>
              <a:off x="3744" y="1544"/>
              <a:ext cx="1816" cy="6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>
                  <a:solidFill>
                    <a:srgbClr val="990000"/>
                  </a:solidFill>
                  <a:latin typeface="Times New Roman" panose="02020603050405020304" pitchFamily="18" charset="0"/>
                </a:rPr>
                <a:t>Foreign Key </a:t>
              </a:r>
              <a:r>
                <a:rPr lang="en-US" altLang="en-US" sz="1600">
                  <a:solidFill>
                    <a:srgbClr val="990000"/>
                  </a:solidFill>
                  <a:latin typeface="Times New Roman" panose="02020603050405020304" pitchFamily="18" charset="0"/>
                </a:rPr>
                <a:t>(implements 1:N relationship between customer and order)</a:t>
              </a:r>
            </a:p>
          </p:txBody>
        </p:sp>
      </p:grpSp>
      <p:grpSp>
        <p:nvGrpSpPr>
          <p:cNvPr id="5" name="Group 21"/>
          <p:cNvGrpSpPr>
            <a:grpSpLocks/>
          </p:cNvGrpSpPr>
          <p:nvPr/>
        </p:nvGrpSpPr>
        <p:grpSpPr bwMode="auto">
          <a:xfrm>
            <a:off x="658813" y="3619500"/>
            <a:ext cx="8401050" cy="1560513"/>
            <a:chOff x="442" y="2360"/>
            <a:chExt cx="5292" cy="983"/>
          </a:xfrm>
        </p:grpSpPr>
        <p:sp>
          <p:nvSpPr>
            <p:cNvPr id="14344" name="Oval 15"/>
            <p:cNvSpPr>
              <a:spLocks noChangeArrowheads="1"/>
            </p:cNvSpPr>
            <p:nvPr/>
          </p:nvSpPr>
          <p:spPr bwMode="auto">
            <a:xfrm>
              <a:off x="442" y="2360"/>
              <a:ext cx="1622" cy="528"/>
            </a:xfrm>
            <a:prstGeom prst="ellips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4345" name="Line 16"/>
            <p:cNvSpPr>
              <a:spLocks noChangeShapeType="1"/>
            </p:cNvSpPr>
            <p:nvPr/>
          </p:nvSpPr>
          <p:spPr bwMode="auto">
            <a:xfrm flipH="1" flipV="1">
              <a:off x="1920" y="2792"/>
              <a:ext cx="1061" cy="240"/>
            </a:xfrm>
            <a:prstGeom prst="line">
              <a:avLst/>
            </a:prstGeom>
            <a:noFill/>
            <a:ln w="28575">
              <a:solidFill>
                <a:srgbClr val="99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346" name="Text Box 17"/>
            <p:cNvSpPr txBox="1">
              <a:spLocks noChangeArrowheads="1"/>
            </p:cNvSpPr>
            <p:nvPr/>
          </p:nvSpPr>
          <p:spPr bwMode="auto">
            <a:xfrm>
              <a:off x="3097" y="2412"/>
              <a:ext cx="2637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990000"/>
                  </a:solidFill>
                  <a:latin typeface="Times New Roman" panose="02020603050405020304" pitchFamily="18" charset="0"/>
                </a:rPr>
                <a:t>Combined, these are a </a:t>
              </a:r>
              <a:r>
                <a:rPr lang="en-US" altLang="en-US" sz="1800" i="1">
                  <a:solidFill>
                    <a:srgbClr val="990000"/>
                  </a:solidFill>
                  <a:latin typeface="Times New Roman" panose="02020603050405020304" pitchFamily="18" charset="0"/>
                </a:rPr>
                <a:t>composite primary key</a:t>
              </a:r>
              <a:r>
                <a:rPr lang="en-US" altLang="en-US" sz="1800">
                  <a:solidFill>
                    <a:srgbClr val="990000"/>
                  </a:solidFill>
                  <a:latin typeface="Times New Roman" panose="02020603050405020304" pitchFamily="18" charset="0"/>
                </a:rPr>
                <a:t> (uniquely identifies the order line)…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>
                  <a:solidFill>
                    <a:srgbClr val="990000"/>
                  </a:solidFill>
                  <a:latin typeface="Times New Roman" panose="02020603050405020304" pitchFamily="18" charset="0"/>
                </a:rPr>
                <a:t>Individually they are </a:t>
              </a:r>
              <a:r>
                <a:rPr lang="en-US" altLang="en-US" sz="1800" i="1">
                  <a:solidFill>
                    <a:srgbClr val="990000"/>
                  </a:solidFill>
                  <a:latin typeface="Times New Roman" panose="02020603050405020304" pitchFamily="18" charset="0"/>
                </a:rPr>
                <a:t>foreign keys</a:t>
              </a:r>
              <a:r>
                <a:rPr lang="en-US" altLang="en-US" sz="1800">
                  <a:solidFill>
                    <a:srgbClr val="990000"/>
                  </a:solidFill>
                  <a:latin typeface="Times New Roman" panose="02020603050405020304" pitchFamily="18" charset="0"/>
                </a:rPr>
                <a:t> (implement M:N relationship between order and product)</a:t>
              </a:r>
            </a:p>
          </p:txBody>
        </p:sp>
      </p:grpSp>
      <p:sp>
        <p:nvSpPr>
          <p:cNvPr id="14343" name="Text Box 22"/>
          <p:cNvSpPr txBox="1">
            <a:spLocks noChangeArrowheads="1"/>
          </p:cNvSpPr>
          <p:nvPr/>
        </p:nvSpPr>
        <p:spPr bwMode="auto">
          <a:xfrm>
            <a:off x="898525" y="387350"/>
            <a:ext cx="79517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Figure 5-3 Schema for four relations (Pine Valley Furniture Company)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04A3BFA5-BFB1-46D3-8004-8F060922C884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8</a:t>
            </a:fld>
            <a:endParaRPr lang="en-US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89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Integrity Constraints</a:t>
            </a:r>
          </a:p>
        </p:txBody>
      </p:sp>
      <p:sp>
        <p:nvSpPr>
          <p:cNvPr id="189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752600"/>
            <a:ext cx="8077200" cy="4968875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Domain Constraints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Allowable values for an attribute. 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	</a:t>
            </a:r>
            <a:endParaRPr lang="en-US" dirty="0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Entity Integrity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No primary key attribute may be null. All   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primary key fields </a:t>
            </a:r>
            <a:r>
              <a:rPr lang="en-US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MUST</a:t>
            </a: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have data.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endParaRPr lang="en-US" dirty="0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Action Assertions</a:t>
            </a:r>
          </a:p>
          <a:p>
            <a:pPr marL="457200" lvl="1" indent="0" eaLnBrk="1" hangingPunct="1">
              <a:buFont typeface="Wingdings" panose="05000000000000000000" pitchFamily="2" charset="2"/>
              <a:buNone/>
              <a:defRPr/>
            </a:pP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Business rules.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94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94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94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94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94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94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94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94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443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20815FFC-0D96-4E65-91AF-E40DDA7F91A4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9</a:t>
            </a:fld>
            <a:endParaRPr lang="en-US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36551" name="Text Box 7"/>
          <p:cNvSpPr txBox="1">
            <a:spLocks noChangeArrowheads="1"/>
          </p:cNvSpPr>
          <p:nvPr/>
        </p:nvSpPr>
        <p:spPr bwMode="auto">
          <a:xfrm>
            <a:off x="1752600" y="5729288"/>
            <a:ext cx="576421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990000"/>
                </a:solidFill>
              </a:rPr>
              <a:t>Domain definitions enforce domain integrity constraints</a:t>
            </a:r>
          </a:p>
        </p:txBody>
      </p:sp>
      <p:pic>
        <p:nvPicPr>
          <p:cNvPr id="18436" name="Picture 8" descr="CAP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533400"/>
            <a:ext cx="82296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36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55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42A2DE64-09A9-410D-869B-C5CC95D819C3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10</a:t>
            </a:fld>
            <a:endParaRPr lang="en-US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190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Integrity Constraints </a:t>
            </a:r>
          </a:p>
        </p:txBody>
      </p:sp>
      <p:sp>
        <p:nvSpPr>
          <p:cNvPr id="1904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24013"/>
            <a:ext cx="9144000" cy="4859337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Referential </a:t>
            </a:r>
            <a:r>
              <a:rPr lang="en-US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Integrity:</a:t>
            </a:r>
            <a:r>
              <a:rPr lang="en-US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 rule that states that either each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r>
              <a:rPr lang="en-US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	foreign 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key value must </a:t>
            </a:r>
            <a:r>
              <a:rPr lang="en-US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match a </a:t>
            </a:r>
            <a:r>
              <a:rPr lang="en-US" sz="2400" dirty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primary key value in </a:t>
            </a:r>
            <a:r>
              <a:rPr lang="en-US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 	another relation Or the foreign key value must be null.</a:t>
            </a:r>
          </a:p>
          <a:p>
            <a:pPr lvl="1" eaLnBrk="1" hangingPunct="1">
              <a:defRPr/>
            </a:pPr>
            <a:r>
              <a:rPr lang="en-US" sz="24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For example: Delete Rules</a:t>
            </a:r>
          </a:p>
          <a:p>
            <a:pPr lvl="2" eaLnBrk="1" hangingPunct="1">
              <a:defRPr/>
            </a:pPr>
            <a:r>
              <a:rPr lang="en-US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Restrict – don’t allow delete of “parent” side if related rows exist in “dependent” side</a:t>
            </a:r>
          </a:p>
          <a:p>
            <a:pPr lvl="2" eaLnBrk="1" hangingPunct="1">
              <a:defRPr/>
            </a:pPr>
            <a:r>
              <a:rPr lang="en-US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Cascade – automatically delete “dependent” side rows that correspond with the “parent” side row to be deleted</a:t>
            </a:r>
          </a:p>
          <a:p>
            <a:pPr lvl="2" eaLnBrk="1" hangingPunct="1">
              <a:defRPr/>
            </a:pPr>
            <a:r>
              <a:rPr lang="en-US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Set-to-Null – set the foreign key in the dependent side to null if deleting from the parent side </a:t>
            </a:r>
            <a:r>
              <a:rPr lang="en-US" sz="20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sym typeface="Wingdings" pitchFamily="2" charset="2"/>
              </a:rPr>
              <a:t> not allowed for weak entities</a:t>
            </a:r>
            <a:endParaRPr lang="en-US" sz="2000" dirty="0" smtClean="0">
              <a:solidFill>
                <a:srgbClr val="000000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0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0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0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04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04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904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accent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0467" grpId="0" build="p" bldLvl="3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C8222007-1B16-4968-8EE8-A9866203EB1B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11</a:t>
            </a:fld>
            <a:endParaRPr lang="en-US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pic>
        <p:nvPicPr>
          <p:cNvPr id="22531" name="Picture 5" descr="CAP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90600"/>
            <a:ext cx="76962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2" name="Text Box 3"/>
          <p:cNvSpPr txBox="1">
            <a:spLocks noChangeArrowheads="1"/>
          </p:cNvSpPr>
          <p:nvPr/>
        </p:nvSpPr>
        <p:spPr bwMode="auto">
          <a:xfrm>
            <a:off x="685800" y="23813"/>
            <a:ext cx="8250238" cy="89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</a:rPr>
              <a:t>Figure 5-5 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>
                <a:solidFill>
                  <a:srgbClr val="000000"/>
                </a:solidFill>
                <a:latin typeface="Arial" panose="020B0604020202020204" pitchFamily="34" charset="0"/>
              </a:rPr>
              <a:t>Referential integrity constraints</a:t>
            </a:r>
            <a:r>
              <a:rPr lang="en-US" altLang="en-US" sz="2400">
                <a:solidFill>
                  <a:srgbClr val="000000"/>
                </a:solidFill>
                <a:latin typeface="Arial" panose="020B0604020202020204" pitchFamily="34" charset="0"/>
              </a:rPr>
              <a:t> (Pine Valley Furniture)</a:t>
            </a:r>
          </a:p>
        </p:txBody>
      </p:sp>
      <p:sp>
        <p:nvSpPr>
          <p:cNvPr id="191492" name="Text Box 4"/>
          <p:cNvSpPr txBox="1">
            <a:spLocks noChangeArrowheads="1"/>
          </p:cNvSpPr>
          <p:nvPr/>
        </p:nvSpPr>
        <p:spPr bwMode="auto">
          <a:xfrm>
            <a:off x="5105400" y="2438400"/>
            <a:ext cx="2759075" cy="247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600">
                <a:solidFill>
                  <a:srgbClr val="990000"/>
                </a:solidFill>
                <a:latin typeface="Times New Roman" panose="02020603050405020304" pitchFamily="18" charset="0"/>
              </a:rPr>
              <a:t>Referential integrity constraints are drawn via arrows from dependent to parent table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1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149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fld id="{EA5D1854-C43E-4D59-BE12-9F6350FC3EF1}" type="slidenum">
              <a:rPr lang="en-US" altLang="en-US" smtClean="0">
                <a:solidFill>
                  <a:srgbClr val="000000"/>
                </a:solidFill>
                <a:latin typeface="Arial" panose="020B0604020202020204" pitchFamily="34" charset="0"/>
              </a:rPr>
              <a:pPr eaLnBrk="1" hangingPunct="1">
                <a:defRPr/>
              </a:pPr>
              <a:t>12</a:t>
            </a:fld>
            <a:endParaRPr lang="en-US" altLang="en-US" smtClean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24579" name="Text Box 8"/>
          <p:cNvSpPr txBox="1">
            <a:spLocks noChangeArrowheads="1"/>
          </p:cNvSpPr>
          <p:nvPr/>
        </p:nvSpPr>
        <p:spPr bwMode="auto">
          <a:xfrm>
            <a:off x="898525" y="387350"/>
            <a:ext cx="37147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>
                <a:solidFill>
                  <a:srgbClr val="000000"/>
                </a:solidFill>
              </a:rPr>
              <a:t>Figure 5-6 SQL table definitions</a:t>
            </a:r>
          </a:p>
        </p:txBody>
      </p:sp>
      <p:pic>
        <p:nvPicPr>
          <p:cNvPr id="24580" name="Picture 9" descr="CAP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38200"/>
            <a:ext cx="5867400" cy="541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38100" y="1146175"/>
            <a:ext cx="9029700" cy="3933825"/>
            <a:chOff x="24" y="722"/>
            <a:chExt cx="5688" cy="2478"/>
          </a:xfrm>
        </p:grpSpPr>
        <p:sp>
          <p:nvSpPr>
            <p:cNvPr id="24582" name="Text Box 7"/>
            <p:cNvSpPr txBox="1">
              <a:spLocks noChangeArrowheads="1"/>
            </p:cNvSpPr>
            <p:nvPr/>
          </p:nvSpPr>
          <p:spPr bwMode="auto">
            <a:xfrm>
              <a:off x="3974" y="1392"/>
              <a:ext cx="1738" cy="18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>
                  <a:solidFill>
                    <a:srgbClr val="990000"/>
                  </a:solidFill>
                  <a:latin typeface="Times New Roman" panose="02020603050405020304" pitchFamily="18" charset="0"/>
                </a:rPr>
                <a:t>Referential integrity constraints are implemented with foreign key to primary key references</a:t>
              </a:r>
            </a:p>
          </p:txBody>
        </p:sp>
        <p:sp>
          <p:nvSpPr>
            <p:cNvPr id="24583" name="Rectangle 11"/>
            <p:cNvSpPr>
              <a:spLocks noChangeArrowheads="1"/>
            </p:cNvSpPr>
            <p:nvPr/>
          </p:nvSpPr>
          <p:spPr bwMode="auto">
            <a:xfrm>
              <a:off x="288" y="2064"/>
              <a:ext cx="3456" cy="146"/>
            </a:xfrm>
            <a:prstGeom prst="rect">
              <a:avLst/>
            </a:prstGeom>
            <a:noFill/>
            <a:ln w="15875">
              <a:solidFill>
                <a:srgbClr val="99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bg1"/>
                </a:buClr>
                <a:buSzPct val="6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4584" name="Freeform 12"/>
            <p:cNvSpPr>
              <a:spLocks/>
            </p:cNvSpPr>
            <p:nvPr/>
          </p:nvSpPr>
          <p:spPr bwMode="auto">
            <a:xfrm>
              <a:off x="24" y="722"/>
              <a:ext cx="643" cy="1408"/>
            </a:xfrm>
            <a:custGeom>
              <a:avLst/>
              <a:gdLst>
                <a:gd name="T0" fmla="*/ 241 w 643"/>
                <a:gd name="T1" fmla="*/ 1408 h 1408"/>
                <a:gd name="T2" fmla="*/ 67 w 643"/>
                <a:gd name="T3" fmla="*/ 604 h 1408"/>
                <a:gd name="T4" fmla="*/ 643 w 643"/>
                <a:gd name="T5" fmla="*/ 0 h 1408"/>
                <a:gd name="T6" fmla="*/ 0 60000 65536"/>
                <a:gd name="T7" fmla="*/ 0 60000 65536"/>
                <a:gd name="T8" fmla="*/ 0 60000 65536"/>
                <a:gd name="T9" fmla="*/ 0 w 643"/>
                <a:gd name="T10" fmla="*/ 0 h 1408"/>
                <a:gd name="T11" fmla="*/ 643 w 643"/>
                <a:gd name="T12" fmla="*/ 1408 h 140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43" h="1408">
                  <a:moveTo>
                    <a:pt x="241" y="1408"/>
                  </a:moveTo>
                  <a:cubicBezTo>
                    <a:pt x="120" y="1123"/>
                    <a:pt x="0" y="839"/>
                    <a:pt x="67" y="604"/>
                  </a:cubicBezTo>
                  <a:cubicBezTo>
                    <a:pt x="134" y="369"/>
                    <a:pt x="547" y="101"/>
                    <a:pt x="643" y="0"/>
                  </a:cubicBezTo>
                </a:path>
              </a:pathLst>
            </a:custGeom>
            <a:noFill/>
            <a:ln w="15875">
              <a:solidFill>
                <a:srgbClr val="990000"/>
              </a:solidFill>
              <a:round/>
              <a:headEnd/>
              <a:tailEnd type="triangle" w="lg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631" y="2420815"/>
            <a:ext cx="8229600" cy="1371600"/>
          </a:xfrm>
        </p:spPr>
        <p:txBody>
          <a:bodyPr/>
          <a:lstStyle/>
          <a:p>
            <a:r>
              <a:rPr lang="en-US" sz="5400" dirty="0">
                <a:solidFill>
                  <a:srgbClr val="000000"/>
                </a:solidFill>
              </a:rPr>
              <a:t>Thanks</a:t>
            </a:r>
            <a:r>
              <a:rPr lang="en-US" dirty="0">
                <a:solidFill>
                  <a:srgbClr val="000000"/>
                </a:solidFill>
              </a:rPr>
              <a:t/>
            </a:r>
            <a:br>
              <a:rPr lang="en-US" dirty="0">
                <a:solidFill>
                  <a:srgbClr val="000000"/>
                </a:solidFill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B250776-72B7-4051-A030-0BC26B3487F1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9072414"/>
      </p:ext>
    </p:extLst>
  </p:cSld>
  <p:clrMapOvr>
    <a:masterClrMapping/>
  </p:clrMapOvr>
</p:sld>
</file>

<file path=ppt/theme/theme1.xml><?xml version="1.0" encoding="utf-8"?>
<a:theme xmlns:a="http://schemas.openxmlformats.org/drawingml/2006/main" name="Textured">
  <a:themeElements>
    <a:clrScheme name="Textured 5">
      <a:dk1>
        <a:srgbClr val="003366"/>
      </a:dk1>
      <a:lt1>
        <a:srgbClr val="FFFFFF"/>
      </a:lt1>
      <a:dk2>
        <a:srgbClr val="2B5481"/>
      </a:dk2>
      <a:lt2>
        <a:srgbClr val="E5FFFF"/>
      </a:lt2>
      <a:accent1>
        <a:srgbClr val="009999"/>
      </a:accent1>
      <a:accent2>
        <a:srgbClr val="336699"/>
      </a:accent2>
      <a:accent3>
        <a:srgbClr val="ACB3C1"/>
      </a:accent3>
      <a:accent4>
        <a:srgbClr val="DADADA"/>
      </a:accent4>
      <a:accent5>
        <a:srgbClr val="AACACA"/>
      </a:accent5>
      <a:accent6>
        <a:srgbClr val="2D5C8A"/>
      </a:accent6>
      <a:hlink>
        <a:srgbClr val="00CCFF"/>
      </a:hlink>
      <a:folHlink>
        <a:srgbClr val="FFCC00"/>
      </a:folHlink>
    </a:clrScheme>
    <a:fontScheme name="Textured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cs typeface="Arial" charset="0"/>
          </a:defRPr>
        </a:defPPr>
      </a:lstStyle>
    </a:lnDef>
  </a:objectDefaults>
  <a:extraClrSchemeLst>
    <a:extraClrScheme>
      <a:clrScheme name="Textured 1">
        <a:dk1>
          <a:srgbClr val="660000"/>
        </a:dk1>
        <a:lt1>
          <a:srgbClr val="FFFFFF"/>
        </a:lt1>
        <a:dk2>
          <a:srgbClr val="800000"/>
        </a:dk2>
        <a:lt2>
          <a:srgbClr val="FFFFCC"/>
        </a:lt2>
        <a:accent1>
          <a:srgbClr val="BE7960"/>
        </a:accent1>
        <a:accent2>
          <a:srgbClr val="CC6600"/>
        </a:accent2>
        <a:accent3>
          <a:srgbClr val="C0AAAA"/>
        </a:accent3>
        <a:accent4>
          <a:srgbClr val="DADADA"/>
        </a:accent4>
        <a:accent5>
          <a:srgbClr val="DBBEB6"/>
        </a:accent5>
        <a:accent6>
          <a:srgbClr val="B95C00"/>
        </a:accent6>
        <a:hlink>
          <a:srgbClr val="FFCC66"/>
        </a:hlink>
        <a:folHlink>
          <a:srgbClr val="CC33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2">
        <a:dk1>
          <a:srgbClr val="003300"/>
        </a:dk1>
        <a:lt1>
          <a:srgbClr val="FFFFFF"/>
        </a:lt1>
        <a:dk2>
          <a:srgbClr val="4D6A2A"/>
        </a:dk2>
        <a:lt2>
          <a:srgbClr val="CCFF99"/>
        </a:lt2>
        <a:accent1>
          <a:srgbClr val="33CC33"/>
        </a:accent1>
        <a:accent2>
          <a:srgbClr val="46562A"/>
        </a:accent2>
        <a:accent3>
          <a:srgbClr val="B2B9AC"/>
        </a:accent3>
        <a:accent4>
          <a:srgbClr val="DADADA"/>
        </a:accent4>
        <a:accent5>
          <a:srgbClr val="ADE2AD"/>
        </a:accent5>
        <a:accent6>
          <a:srgbClr val="3F4D25"/>
        </a:accent6>
        <a:hlink>
          <a:srgbClr val="0099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3">
        <a:dk1>
          <a:srgbClr val="4E4E74"/>
        </a:dk1>
        <a:lt1>
          <a:srgbClr val="FFFFFF"/>
        </a:lt1>
        <a:dk2>
          <a:srgbClr val="666699"/>
        </a:dk2>
        <a:lt2>
          <a:srgbClr val="FFFFCC"/>
        </a:lt2>
        <a:accent1>
          <a:srgbClr val="5E5884"/>
        </a:accent1>
        <a:accent2>
          <a:srgbClr val="8AB29D"/>
        </a:accent2>
        <a:accent3>
          <a:srgbClr val="B8B8CA"/>
        </a:accent3>
        <a:accent4>
          <a:srgbClr val="DADADA"/>
        </a:accent4>
        <a:accent5>
          <a:srgbClr val="B6B4C2"/>
        </a:accent5>
        <a:accent6>
          <a:srgbClr val="7DA18E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4">
        <a:dk1>
          <a:srgbClr val="004E4C"/>
        </a:dk1>
        <a:lt1>
          <a:srgbClr val="FFFFFF"/>
        </a:lt1>
        <a:dk2>
          <a:srgbClr val="006666"/>
        </a:dk2>
        <a:lt2>
          <a:srgbClr val="FFFFCC"/>
        </a:lt2>
        <a:accent1>
          <a:srgbClr val="FFCC00"/>
        </a:accent1>
        <a:accent2>
          <a:srgbClr val="00B0AC"/>
        </a:accent2>
        <a:accent3>
          <a:srgbClr val="AAB8B8"/>
        </a:accent3>
        <a:accent4>
          <a:srgbClr val="DADADA"/>
        </a:accent4>
        <a:accent5>
          <a:srgbClr val="FFE2AA"/>
        </a:accent5>
        <a:accent6>
          <a:srgbClr val="009F9B"/>
        </a:accent6>
        <a:hlink>
          <a:srgbClr val="BA7C3E"/>
        </a:hlink>
        <a:folHlink>
          <a:srgbClr val="724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5">
        <a:dk1>
          <a:srgbClr val="003366"/>
        </a:dk1>
        <a:lt1>
          <a:srgbClr val="FFFFFF"/>
        </a:lt1>
        <a:dk2>
          <a:srgbClr val="2B5481"/>
        </a:dk2>
        <a:lt2>
          <a:srgbClr val="E5FFFF"/>
        </a:lt2>
        <a:accent1>
          <a:srgbClr val="009999"/>
        </a:accent1>
        <a:accent2>
          <a:srgbClr val="336699"/>
        </a:accent2>
        <a:accent3>
          <a:srgbClr val="ACB3C1"/>
        </a:accent3>
        <a:accent4>
          <a:srgbClr val="DADADA"/>
        </a:accent4>
        <a:accent5>
          <a:srgbClr val="AACACA"/>
        </a:accent5>
        <a:accent6>
          <a:srgbClr val="2D5C8A"/>
        </a:accent6>
        <a:hlink>
          <a:srgbClr val="00CCFF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6">
        <a:dk1>
          <a:srgbClr val="080808"/>
        </a:dk1>
        <a:lt1>
          <a:srgbClr val="FFFFFF"/>
        </a:lt1>
        <a:dk2>
          <a:srgbClr val="4D4D4D"/>
        </a:dk2>
        <a:lt2>
          <a:srgbClr val="FFFFFF"/>
        </a:lt2>
        <a:accent1>
          <a:srgbClr val="666699"/>
        </a:accent1>
        <a:accent2>
          <a:srgbClr val="3366CC"/>
        </a:accent2>
        <a:accent3>
          <a:srgbClr val="B2B2B2"/>
        </a:accent3>
        <a:accent4>
          <a:srgbClr val="DADADA"/>
        </a:accent4>
        <a:accent5>
          <a:srgbClr val="B8B8CA"/>
        </a:accent5>
        <a:accent6>
          <a:srgbClr val="2D5CB9"/>
        </a:accent6>
        <a:hlink>
          <a:srgbClr val="00CCFF"/>
        </a:hlink>
        <a:folHlink>
          <a:srgbClr val="CCCC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extured 7">
        <a:dk1>
          <a:srgbClr val="000000"/>
        </a:dk1>
        <a:lt1>
          <a:srgbClr val="DBDAC2"/>
        </a:lt1>
        <a:dk2>
          <a:srgbClr val="827F4C"/>
        </a:dk2>
        <a:lt2>
          <a:srgbClr val="C0BC94"/>
        </a:lt2>
        <a:accent1>
          <a:srgbClr val="AAA578"/>
        </a:accent1>
        <a:accent2>
          <a:srgbClr val="A2A4AC"/>
        </a:accent2>
        <a:accent3>
          <a:srgbClr val="EAEADD"/>
        </a:accent3>
        <a:accent4>
          <a:srgbClr val="000000"/>
        </a:accent4>
        <a:accent5>
          <a:srgbClr val="D2CFBE"/>
        </a:accent5>
        <a:accent6>
          <a:srgbClr val="92949B"/>
        </a:accent6>
        <a:hlink>
          <a:srgbClr val="5B8800"/>
        </a:hlink>
        <a:folHlink>
          <a:srgbClr val="68653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extured 8">
        <a:dk1>
          <a:srgbClr val="000000"/>
        </a:dk1>
        <a:lt1>
          <a:srgbClr val="DCE8F4"/>
        </a:lt1>
        <a:dk2>
          <a:srgbClr val="7B9CB5"/>
        </a:dk2>
        <a:lt2>
          <a:srgbClr val="969696"/>
        </a:lt2>
        <a:accent1>
          <a:srgbClr val="FFFFFF"/>
        </a:accent1>
        <a:accent2>
          <a:srgbClr val="00BAB6"/>
        </a:accent2>
        <a:accent3>
          <a:srgbClr val="EBF2F8"/>
        </a:accent3>
        <a:accent4>
          <a:srgbClr val="000000"/>
        </a:accent4>
        <a:accent5>
          <a:srgbClr val="FFFFFF"/>
        </a:accent5>
        <a:accent6>
          <a:srgbClr val="00A8A5"/>
        </a:accent6>
        <a:hlink>
          <a:srgbClr val="8A8AD8"/>
        </a:hlink>
        <a:folHlink>
          <a:srgbClr val="24249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Textured</Template>
  <TotalTime>4988</TotalTime>
  <Pages>9</Pages>
  <Words>437</Words>
  <Application>Microsoft Office PowerPoint</Application>
  <PresentationFormat>On-screen Show (4:3)</PresentationFormat>
  <Paragraphs>96</Paragraphs>
  <Slides>13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Tahoma</vt:lpstr>
      <vt:lpstr>Times New Roman</vt:lpstr>
      <vt:lpstr>Wingdings</vt:lpstr>
      <vt:lpstr>Textured</vt:lpstr>
      <vt:lpstr>Microsoft ClipArt Gallery</vt:lpstr>
      <vt:lpstr>Overview</vt:lpstr>
      <vt:lpstr>Relation</vt:lpstr>
      <vt:lpstr>Mathematical Relation</vt:lpstr>
      <vt:lpstr>Mathematical Relation</vt:lpstr>
      <vt:lpstr>Correspondence with E-R Model</vt:lpstr>
      <vt:lpstr>Key Fields</vt:lpstr>
      <vt:lpstr>PowerPoint Presentation</vt:lpstr>
      <vt:lpstr>Integrity Constraints</vt:lpstr>
      <vt:lpstr>PowerPoint Presentation</vt:lpstr>
      <vt:lpstr>Integrity Constraints </vt:lpstr>
      <vt:lpstr>PowerPoint Presentation</vt:lpstr>
      <vt:lpstr>PowerPoint Presentation</vt:lpstr>
      <vt:lpstr>Thanks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Logical Database Design and the Relational Model</dc:title>
  <dc:creator>Michel Mitri</dc:creator>
  <cp:lastModifiedBy>Tariq</cp:lastModifiedBy>
  <cp:revision>430</cp:revision>
  <cp:lastPrinted>1998-01-19T09:29:56Z</cp:lastPrinted>
  <dcterms:created xsi:type="dcterms:W3CDTF">1998-01-19T10:00:26Z</dcterms:created>
  <dcterms:modified xsi:type="dcterms:W3CDTF">2022-10-11T10:27:11Z</dcterms:modified>
</cp:coreProperties>
</file>