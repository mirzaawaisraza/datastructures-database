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9"/>
  </p:notesMasterIdLst>
  <p:sldIdLst>
    <p:sldId id="256" r:id="rId2"/>
    <p:sldId id="451" r:id="rId3"/>
    <p:sldId id="262" r:id="rId4"/>
    <p:sldId id="258" r:id="rId5"/>
    <p:sldId id="259" r:id="rId6"/>
    <p:sldId id="260" r:id="rId7"/>
    <p:sldId id="415" r:id="rId8"/>
    <p:sldId id="264" r:id="rId9"/>
    <p:sldId id="265" r:id="rId10"/>
    <p:sldId id="419" r:id="rId11"/>
    <p:sldId id="425" r:id="rId12"/>
    <p:sldId id="422" r:id="rId13"/>
    <p:sldId id="423" r:id="rId14"/>
    <p:sldId id="424" r:id="rId15"/>
    <p:sldId id="428" r:id="rId16"/>
    <p:sldId id="429" r:id="rId17"/>
    <p:sldId id="430" r:id="rId18"/>
    <p:sldId id="443" r:id="rId19"/>
    <p:sldId id="444" r:id="rId20"/>
    <p:sldId id="445" r:id="rId21"/>
    <p:sldId id="446" r:id="rId22"/>
    <p:sldId id="431" r:id="rId23"/>
    <p:sldId id="432" r:id="rId24"/>
    <p:sldId id="433" r:id="rId25"/>
    <p:sldId id="434" r:id="rId26"/>
    <p:sldId id="435" r:id="rId27"/>
    <p:sldId id="436" r:id="rId28"/>
    <p:sldId id="440" r:id="rId29"/>
    <p:sldId id="441" r:id="rId30"/>
    <p:sldId id="442" r:id="rId31"/>
    <p:sldId id="447" r:id="rId32"/>
    <p:sldId id="448" r:id="rId33"/>
    <p:sldId id="449" r:id="rId34"/>
    <p:sldId id="459" r:id="rId35"/>
    <p:sldId id="456" r:id="rId36"/>
    <p:sldId id="457" r:id="rId37"/>
    <p:sldId id="458" r:id="rId38"/>
    <p:sldId id="460" r:id="rId39"/>
    <p:sldId id="461" r:id="rId40"/>
    <p:sldId id="462" r:id="rId41"/>
    <p:sldId id="465" r:id="rId42"/>
    <p:sldId id="466" r:id="rId43"/>
    <p:sldId id="464" r:id="rId44"/>
    <p:sldId id="470" r:id="rId45"/>
    <p:sldId id="268" r:id="rId46"/>
    <p:sldId id="468" r:id="rId47"/>
    <p:sldId id="450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73" d="100"/>
          <a:sy n="73" d="100"/>
        </p:scale>
        <p:origin x="2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8F079-7BBF-4B63-BEB5-316E394E0AB9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6E4CA-C87C-4621-B791-51F3976B5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2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5800"/>
            <a:ext cx="6094412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85EBDF9-F79B-41C7-8F27-BA94B3643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68335B4-23A5-4AFF-B680-094B16FBB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13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422C8AF6-B477-4493-8B34-7A90D12EA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F9FCE20C-8D55-40E3-A1B1-D8EBDB688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9C4BC598-D0C5-4F40-9741-CBDA40EA2E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1A853DB1-993D-46BC-85B9-B27E09459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7938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85EBDF9-F79B-41C7-8F27-BA94B3643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668335B4-23A5-4AFF-B680-094B16FBB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000" i="1"/>
              <a:t>13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422C8AF6-B477-4493-8B34-7A90D12EA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F9FCE20C-8D55-40E3-A1B1-D8EBDB688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9C4BC598-D0C5-4F40-9741-CBDA40EA2E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1A853DB1-993D-46BC-85B9-B27E09459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10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5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27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5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7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819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7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4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2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40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FECD7C0-1A32-4362-B13F-70A88484C631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6CAB2D9-995D-425A-8425-97C4D13B7DC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6843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F7C7-5279-453B-8D2B-837A2156A2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algebra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6722F-3B10-4B48-AF7F-D058023AA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3429000"/>
            <a:ext cx="10993546" cy="28434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 algebra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 algebra Operations</a:t>
            </a: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808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22D1-9361-4E37-913E-76ADD00C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4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C4795-E659-4A81-8754-BCF281082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306008" cy="3678303"/>
          </a:xfrm>
        </p:spPr>
        <p:txBody>
          <a:bodyPr>
            <a:normAutofit fontScale="25000" lnSpcReduction="20000"/>
          </a:bodyPr>
          <a:lstStyle/>
          <a:p>
            <a:endParaRPr lang="en-US" sz="1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20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Algebra</a:t>
            </a:r>
          </a:p>
          <a:p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relational algebra operations</a:t>
            </a:r>
          </a:p>
          <a:p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specify what is required and what are the procedure / steps to obtain the required output</a:t>
            </a:r>
          </a:p>
          <a:p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define operators that transform one or more input relations to an output relation</a:t>
            </a:r>
          </a:p>
          <a:p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form queries in relational algebra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565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22D1-9361-4E37-913E-76ADD00C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 Algebra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C4795-E659-4A81-8754-BCF281082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306008" cy="3678303"/>
          </a:xfrm>
        </p:spPr>
        <p:txBody>
          <a:bodyPr>
            <a:normAutofit/>
          </a:bodyPr>
          <a:lstStyle/>
          <a:p>
            <a:r>
              <a:rPr lang="en-US" alt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</a:t>
            </a:r>
            <a:r>
              <a:rPr 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 </a:t>
            </a:r>
            <a:r>
              <a:rPr lang="en-US" altLang="en-US" sz="36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with operations that work on one or more relations to define another relation without changing the original relation(s).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6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A7FF3-67AB-4BB8-AD6D-2307F6EC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Algebra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16D62-A30B-4D79-B6A0-54704518E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operands and the results are relations. So the output from one operation can become the input to another operation.</a:t>
            </a:r>
          </a:p>
          <a:p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expressions to be nested, just as in arithmetic. This property is called closure. 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78045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0818-3C94-4C07-A346-9AE09CC2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Algebra Basic Operations 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8825B-2642-4722-A466-9BB11B331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AutoNum type="arabicPeriod"/>
              <a:defRPr/>
            </a:pP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			 	</a:t>
            </a:r>
          </a:p>
          <a:p>
            <a:pPr lvl="1">
              <a:buFont typeface="Wingdings" panose="05000000000000000000" pitchFamily="2" charset="2"/>
              <a:buAutoNum type="arabicPeriod"/>
              <a:defRPr/>
            </a:pP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lvl="1">
              <a:buFont typeface="Wingdings" panose="05000000000000000000" pitchFamily="2" charset="2"/>
              <a:buAutoNum type="arabicPeriod"/>
              <a:defRPr/>
            </a:pP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AutoNum type="arabicPeriod"/>
              <a:defRPr/>
            </a:pP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Union</a:t>
            </a:r>
          </a:p>
          <a:p>
            <a:pPr lvl="1">
              <a:buFont typeface="Wingdings" panose="05000000000000000000" pitchFamily="2" charset="2"/>
              <a:buAutoNum type="arabicPeriod"/>
              <a:defRPr/>
            </a:pP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Difference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88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983E1-3D98-40C9-89BF-3D896B85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Algebra Basic Operations 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3080D-887C-4B57-9D36-B2013B335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24000" lvl="1" indent="0">
              <a:buClr>
                <a:srgbClr val="4590B8"/>
              </a:buClr>
              <a:buNone/>
              <a:defRPr/>
            </a:pPr>
            <a:r>
              <a:rPr lang="en-US" sz="3600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other operations which can be expressed in terms of five basic operations are:</a:t>
            </a:r>
            <a:endParaRPr lang="en-GB" altLang="en-US" sz="3600" dirty="0">
              <a:solidFill>
                <a:srgbClr val="3D3D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1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Courier New" panose="02070309020205020404" pitchFamily="49" charset="0"/>
              <a:buChar char="o"/>
              <a:tabLst/>
              <a:defRPr/>
            </a:pPr>
            <a:r>
              <a:rPr lang="en-US" sz="3600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</a:p>
          <a:p>
            <a:pPr marR="0" lvl="1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Courier New" panose="02070309020205020404" pitchFamily="49" charset="0"/>
              <a:buChar char="o"/>
              <a:tabLst/>
              <a:defRPr/>
            </a:pPr>
            <a:r>
              <a:rPr lang="en-US" sz="3600" dirty="0">
                <a:solidFill>
                  <a:srgbClr val="3D3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Intersection</a:t>
            </a:r>
          </a:p>
        </p:txBody>
      </p:sp>
    </p:spTree>
    <p:extLst>
      <p:ext uri="{BB962C8B-B14F-4D97-AF65-F5344CB8AC3E}">
        <p14:creationId xmlns:p14="http://schemas.microsoft.com/office/powerpoint/2010/main" val="320764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Algebra Operations</a:t>
            </a:r>
          </a:p>
        </p:txBody>
      </p:sp>
      <p:sp>
        <p:nvSpPr>
          <p:cNvPr id="4915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GB" b="1" dirty="0">
              <a:latin typeface="Times" pitchFamily="18" charset="0"/>
            </a:endParaRPr>
          </a:p>
          <a:p>
            <a:pPr lvl="2">
              <a:lnSpc>
                <a:spcPct val="90000"/>
              </a:lnSpc>
            </a:pPr>
            <a:endParaRPr lang="en-GB" sz="2400" b="1" dirty="0">
              <a:latin typeface="Times" pitchFamily="18" charset="0"/>
            </a:endParaRPr>
          </a:p>
          <a:p>
            <a:pPr lvl="2">
              <a:lnSpc>
                <a:spcPct val="90000"/>
              </a:lnSpc>
            </a:pPr>
            <a:endParaRPr lang="en-GB" sz="2200" b="1" dirty="0">
              <a:latin typeface="Times" pitchFamily="18" charset="0"/>
            </a:endParaRPr>
          </a:p>
          <a:p>
            <a:pPr lvl="2">
              <a:lnSpc>
                <a:spcPct val="90000"/>
              </a:lnSpc>
            </a:pPr>
            <a:endParaRPr lang="en-GB" sz="2200" b="1" dirty="0">
              <a:latin typeface="Times" pitchFamily="18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en-GB" sz="2600" b="1" dirty="0">
              <a:latin typeface="Times" pitchFamily="18" charset="0"/>
            </a:endParaRPr>
          </a:p>
          <a:p>
            <a:pPr lvl="1">
              <a:lnSpc>
                <a:spcPct val="90000"/>
              </a:lnSpc>
            </a:pPr>
            <a:endParaRPr lang="en-GB" sz="2600" b="1" dirty="0">
              <a:latin typeface="Times" pitchFamily="18" charset="0"/>
            </a:endParaRPr>
          </a:p>
          <a:p>
            <a:pPr>
              <a:lnSpc>
                <a:spcPct val="90000"/>
              </a:lnSpc>
            </a:pPr>
            <a:endParaRPr lang="en-GB" sz="2600" b="1" dirty="0">
              <a:latin typeface="Times" pitchFamily="18" charset="0"/>
            </a:endParaRPr>
          </a:p>
          <a:p>
            <a:pPr lvl="1">
              <a:lnSpc>
                <a:spcPct val="90000"/>
              </a:lnSpc>
            </a:pPr>
            <a:endParaRPr lang="en-GB" sz="2600" b="1" dirty="0">
              <a:latin typeface="Times" pitchFamily="18" charset="0"/>
            </a:endParaRPr>
          </a:p>
          <a:p>
            <a:pPr lvl="1">
              <a:lnSpc>
                <a:spcPct val="90000"/>
              </a:lnSpc>
            </a:pPr>
            <a:endParaRPr lang="en-GB" sz="1800" b="1" dirty="0">
              <a:latin typeface="Times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GB" b="1" dirty="0">
              <a:latin typeface="Times" pitchFamily="18" charset="0"/>
            </a:endParaRPr>
          </a:p>
        </p:txBody>
      </p:sp>
      <p:pic>
        <p:nvPicPr>
          <p:cNvPr id="4" name="Picture 2056" descr="C04NF01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33161"/>
            <a:ext cx="8357937" cy="4772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035133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FEFF-4410-46EE-976D-0D08FFCA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Basic Operators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F60E3-EAE1-4750-A2E6-488881673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76926"/>
            <a:ext cx="11029615" cy="4780548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alt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			 	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alt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GB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GB" alt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Operators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GB" alt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GB" alt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Difference		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GB" alt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</a:t>
            </a:r>
            <a:endParaRPr lang="en-US" alt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650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2AF6-3B15-4DBE-BD03-968970C2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5A11E-209A-4D1C-9D71-613A696C0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5870"/>
            <a:ext cx="11029615" cy="48583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a single relation R and defines a relation that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contains only those </a:t>
            </a:r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 that satisfy the specified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predicate.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Predicate [ Giving New Table ]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Symbolic Notation:	 </a:t>
            </a:r>
            <a:r>
              <a:rPr lang="en-GB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3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(RELATION)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66485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AF73-B1A0-48F8-8F0F-13BC0597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select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83C4-B27C-4C65-81F1-2E89771E4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4546875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define predicates use comparison operators: =, ≠, &lt;, ≤, &gt;, ≥ </a:t>
            </a:r>
          </a:p>
          <a:p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 ∧ (AND),∨ (OR) and ~ (NOT) can be used to define more complex predicates.</a:t>
            </a:r>
          </a:p>
          <a:p>
            <a:endParaRPr lang="en-US" alt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Degree of the resulting relation is the same as the degree of the relation </a:t>
            </a:r>
          </a:p>
          <a:p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79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C64B-F909-465B-AA4E-609FC850C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STAFF relation</a:t>
            </a:r>
            <a:endParaRPr lang="en-US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CB58E3-6366-4A6E-AF2B-CC16C49BF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861" y="2342147"/>
            <a:ext cx="9849494" cy="3151495"/>
          </a:xfrm>
        </p:spPr>
      </p:pic>
    </p:spTree>
    <p:extLst>
      <p:ext uri="{BB962C8B-B14F-4D97-AF65-F5344CB8AC3E}">
        <p14:creationId xmlns:p14="http://schemas.microsoft.com/office/powerpoint/2010/main" val="3490307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A33A-DCB5-4633-9C63-1AFC6CAB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Select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22E54-72EB-4EC7-87AA-3B33A72E9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16247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staff with a salary greater than £10,000</a:t>
            </a:r>
          </a:p>
          <a:p>
            <a:pPr marL="457200" marR="0" lvl="1" indent="0" algn="l" defTabSz="914400" rtl="0" eaLnBrk="1" fontAlgn="base" latinLnBrk="0" hangingPunct="1">
              <a:lnSpc>
                <a:spcPct val="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P MultinationalA Roman" pitchFamily="18" charset="2"/>
              </a:rPr>
              <a:t>			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</a:t>
            </a:r>
            <a:r>
              <a:rPr lang="en-GB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 &gt; 10000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(Staff)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0332D-C94E-4345-8300-83339FC2B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099" y="3815561"/>
            <a:ext cx="8032460" cy="234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18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D0FE-F4CA-452D-A108-2A37BC87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4E0B-A1C7-469A-B3D2-94E671619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11029615" cy="4481561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defRPr/>
            </a:pPr>
            <a:r>
              <a:rPr lang="en-GB" alt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 that 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Works on a single relation R and defines a relation that contains a vertical subset of R, extracting the values of specified attributes and eliminating duplicates.</a:t>
            </a:r>
          </a:p>
          <a:p>
            <a:pPr>
              <a:lnSpc>
                <a:spcPct val="120000"/>
              </a:lnSpc>
              <a:defRPr/>
            </a:pPr>
            <a:r>
              <a:rPr lang="en-GB" alt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Notation: </a:t>
            </a:r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	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</a:t>
            </a:r>
            <a:r>
              <a:rPr lang="en-US" sz="39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a1, a2. . . , </a:t>
            </a:r>
            <a:r>
              <a:rPr lang="en-US" sz="3900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ak</a:t>
            </a:r>
            <a:r>
              <a:rPr lang="en-US" sz="39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(R)</a:t>
            </a:r>
          </a:p>
          <a:p>
            <a:pPr lvl="1">
              <a:buFontTx/>
              <a:buNone/>
              <a:defRPr/>
            </a:pPr>
            <a:r>
              <a:rPr lang="en-GB" alt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</a:t>
            </a:r>
            <a:r>
              <a:rPr lang="en-GB" alt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... </a:t>
            </a:r>
            <a:r>
              <a:rPr lang="en-GB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alt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attribute names and R is a relation name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61016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B0CC-C7A5-4063-BB34-B45216F42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Projection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B590E-C4B7-4D31-92EC-E238043ED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8617"/>
            <a:ext cx="11029615" cy="4811655"/>
          </a:xfrm>
        </p:spPr>
        <p:txBody>
          <a:bodyPr/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a list of salaries for all staff, showing only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staffNo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salary details.</a:t>
            </a:r>
          </a:p>
          <a:p>
            <a:pPr marL="0" indent="0"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	</a:t>
            </a:r>
            <a:r>
              <a:rPr lang="el-G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staffNo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US" sz="3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(Staff)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D99BB4-C257-435A-A40D-BA45F89F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651" y="4062549"/>
            <a:ext cx="4206928" cy="261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11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A6D6-3458-4576-88F4-00C1C4E5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A19A-38E9-47C2-8239-8A7A9450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50933"/>
          </a:xfrm>
        </p:spPr>
        <p:txBody>
          <a:bodyPr>
            <a:normAutofit fontScale="92500" lnSpcReduction="10000"/>
          </a:bodyPr>
          <a:lstStyle/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× S defines a relation that is the concatenation of every tuple of relation R with every tuple of relation S.</a:t>
            </a:r>
          </a:p>
          <a:p>
            <a:pPr marL="324000" lvl="1" indent="0" algn="just">
              <a:lnSpc>
                <a:spcPct val="90000"/>
              </a:lnSpc>
              <a:buNone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and S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have to be union compatible.</a:t>
            </a:r>
          </a:p>
          <a:p>
            <a:pPr lvl="1" algn="just">
              <a:lnSpc>
                <a:spcPct val="90000"/>
              </a:lnSpc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relation R has m tuples with </a:t>
            </a:r>
            <a:r>
              <a:rPr lang="en-US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attributes and relation S has n tuples with j attributes, the result is m*n tuples with (</a:t>
            </a:r>
            <a:r>
              <a:rPr lang="en-US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i+j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attributes.</a:t>
            </a: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824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</a:t>
            </a:r>
            <a:r>
              <a:rPr kumimoji="0" lang="en-US" altLang="en-US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Cartesian Product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59309" y="3018146"/>
          <a:ext cx="4278359" cy="1558278"/>
        </p:xfrm>
        <a:graphic>
          <a:graphicData uri="http://schemas.openxmlformats.org/drawingml/2006/table">
            <a:tbl>
              <a:tblPr/>
              <a:tblGrid>
                <a:gridCol w="133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1726201" y="2951933"/>
          <a:ext cx="3694885" cy="2077704"/>
        </p:xfrm>
        <a:graphic>
          <a:graphicData uri="http://schemas.openxmlformats.org/drawingml/2006/table">
            <a:tbl>
              <a:tblPr/>
              <a:tblGrid>
                <a:gridCol w="1156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Reg.#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M. Haseeb 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M. Muneeb Tariq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Mohammad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5D4269-0344-41C5-8A9F-1DD4DEB0B38B}"/>
              </a:ext>
            </a:extLst>
          </p:cNvPr>
          <p:cNvSpPr txBox="1"/>
          <p:nvPr/>
        </p:nvSpPr>
        <p:spPr>
          <a:xfrm>
            <a:off x="1726201" y="2194560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B1FA7-1D40-4F2C-A3D8-CDAF96628FC0}"/>
              </a:ext>
            </a:extLst>
          </p:cNvPr>
          <p:cNvSpPr txBox="1"/>
          <p:nvPr/>
        </p:nvSpPr>
        <p:spPr>
          <a:xfrm>
            <a:off x="6311813" y="2194560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Course</a:t>
            </a:r>
          </a:p>
        </p:txBody>
      </p:sp>
    </p:spTree>
    <p:extLst>
      <p:ext uri="{BB962C8B-B14F-4D97-AF65-F5344CB8AC3E}">
        <p14:creationId xmlns:p14="http://schemas.microsoft.com/office/powerpoint/2010/main" val="945680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</a:t>
            </a:r>
            <a:r>
              <a:rPr kumimoji="0" lang="en-US" altLang="en-US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Cartesian Product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25589" y="2556914"/>
          <a:ext cx="4278359" cy="1558278"/>
        </p:xfrm>
        <a:graphic>
          <a:graphicData uri="http://schemas.openxmlformats.org/drawingml/2006/table">
            <a:tbl>
              <a:tblPr/>
              <a:tblGrid>
                <a:gridCol w="133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1830704" y="2556914"/>
          <a:ext cx="3694885" cy="3635982"/>
        </p:xfrm>
        <a:graphic>
          <a:graphicData uri="http://schemas.openxmlformats.org/drawingml/2006/table">
            <a:tbl>
              <a:tblPr/>
              <a:tblGrid>
                <a:gridCol w="1156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8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Reg.#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M. Haseeb 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M. Haseeb 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M. </a:t>
                      </a:r>
                      <a:r>
                        <a:rPr kumimoji="0" lang="en-US" sz="2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Muneeb</a:t>
                      </a: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Tariq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M. </a:t>
                      </a:r>
                      <a:r>
                        <a:rPr kumimoji="0" lang="en-US" sz="2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Muneeb</a:t>
                      </a: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 Tariq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293383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Mohammad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123313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Mohammad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62155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5D4269-0344-41C5-8A9F-1DD4DEB0B38B}"/>
              </a:ext>
            </a:extLst>
          </p:cNvPr>
          <p:cNvSpPr txBox="1"/>
          <p:nvPr/>
        </p:nvSpPr>
        <p:spPr>
          <a:xfrm>
            <a:off x="1726201" y="1910583"/>
            <a:ext cx="411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Student </a:t>
            </a:r>
            <a:r>
              <a:rPr kumimoji="0" lang="en-GB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X Course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3D3D3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42">
            <a:extLst>
              <a:ext uri="{FF2B5EF4-FFF2-40B4-BE49-F238E27FC236}">
                <a16:creationId xmlns:a16="http://schemas.microsoft.com/office/drawing/2014/main" id="{E5610738-CE83-4A4A-9197-EA93A3C4C30A}"/>
              </a:ext>
            </a:extLst>
          </p:cNvPr>
          <p:cNvGraphicFramePr>
            <a:graphicFrameLocks/>
          </p:cNvGraphicFramePr>
          <p:nvPr/>
        </p:nvGraphicFramePr>
        <p:xfrm>
          <a:off x="5525589" y="4115192"/>
          <a:ext cx="4278359" cy="1038852"/>
        </p:xfrm>
        <a:graphic>
          <a:graphicData uri="http://schemas.openxmlformats.org/drawingml/2006/table">
            <a:tbl>
              <a:tblPr/>
              <a:tblGrid>
                <a:gridCol w="133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</a:tbl>
          </a:graphicData>
        </a:graphic>
      </p:graphicFrame>
      <p:graphicFrame>
        <p:nvGraphicFramePr>
          <p:cNvPr id="9" name="Group 42">
            <a:extLst>
              <a:ext uri="{FF2B5EF4-FFF2-40B4-BE49-F238E27FC236}">
                <a16:creationId xmlns:a16="http://schemas.microsoft.com/office/drawing/2014/main" id="{E5303432-11AB-4BB4-B464-59F8064079A1}"/>
              </a:ext>
            </a:extLst>
          </p:cNvPr>
          <p:cNvGraphicFramePr>
            <a:graphicFrameLocks/>
          </p:cNvGraphicFramePr>
          <p:nvPr/>
        </p:nvGraphicFramePr>
        <p:xfrm>
          <a:off x="5525588" y="5154044"/>
          <a:ext cx="4278359" cy="1038852"/>
        </p:xfrm>
        <a:graphic>
          <a:graphicData uri="http://schemas.openxmlformats.org/drawingml/2006/table">
            <a:tbl>
              <a:tblPr/>
              <a:tblGrid>
                <a:gridCol w="133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9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25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A6D6-3458-4576-88F4-00C1C4E5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join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A19A-38E9-47C2-8239-8A7A9450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8617"/>
            <a:ext cx="11029615" cy="4493623"/>
          </a:xfrm>
        </p:spPr>
        <p:txBody>
          <a:bodyPr>
            <a:normAutofit/>
          </a:bodyPr>
          <a:lstStyle/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are joined on the basis of values of a common attribute between the two relations.</a:t>
            </a: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having the same value in the common attribute are joined.</a:t>
            </a: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46F8-D195-48F5-92E2-02496D43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CAB2D9-995D-425A-8425-97C4D13B7DC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022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A6D6-3458-4576-88F4-00C1C4E5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-join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A19A-38E9-47C2-8239-8A7A9450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54926"/>
            <a:ext cx="11029615" cy="4781005"/>
          </a:xfrm>
        </p:spPr>
        <p:txBody>
          <a:bodyPr>
            <a:normAutofit/>
          </a:bodyPr>
          <a:lstStyle/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attributes appears twice in the output</a:t>
            </a: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attribute with the same name is qualified with the relation name in the output</a:t>
            </a: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95D84-2582-45A4-BA94-F5D9D9F98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CAB2D9-995D-425A-8425-97C4D13B7DC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956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-join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80188" y="2840891"/>
          <a:ext cx="5654315" cy="2553192"/>
        </p:xfrm>
        <a:graphic>
          <a:graphicData uri="http://schemas.openxmlformats.org/drawingml/2006/table">
            <a:tbl>
              <a:tblPr/>
              <a:tblGrid>
                <a:gridCol w="126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63783334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CSE305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Software Requirement Engineering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402522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1726201" y="2951933"/>
          <a:ext cx="2858862" cy="2077704"/>
        </p:xfrm>
        <a:graphic>
          <a:graphicData uri="http://schemas.openxmlformats.org/drawingml/2006/table">
            <a:tbl>
              <a:tblPr/>
              <a:tblGrid>
                <a:gridCol w="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Zafar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Mohammad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5D4269-0344-41C5-8A9F-1DD4DEB0B38B}"/>
              </a:ext>
            </a:extLst>
          </p:cNvPr>
          <p:cNvSpPr txBox="1"/>
          <p:nvPr/>
        </p:nvSpPr>
        <p:spPr>
          <a:xfrm>
            <a:off x="1726201" y="2194560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Faculty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B1FA7-1D40-4F2C-A3D8-CDAF96628FC0}"/>
              </a:ext>
            </a:extLst>
          </p:cNvPr>
          <p:cNvSpPr txBox="1"/>
          <p:nvPr/>
        </p:nvSpPr>
        <p:spPr>
          <a:xfrm>
            <a:off x="5854016" y="2163631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Course</a:t>
            </a:r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DCF091D5-A9CE-4A44-8AF5-4955F5AD729E}"/>
              </a:ext>
            </a:extLst>
          </p:cNvPr>
          <p:cNvGrpSpPr>
            <a:grpSpLocks/>
          </p:cNvGrpSpPr>
          <p:nvPr/>
        </p:nvGrpSpPr>
        <p:grpSpPr bwMode="auto">
          <a:xfrm>
            <a:off x="3000374" y="5573688"/>
            <a:ext cx="7516813" cy="909638"/>
            <a:chOff x="1416" y="3168"/>
            <a:chExt cx="4735" cy="573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68E0F600-B30E-49C3-A9DE-413ED5751F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3323"/>
              <a:ext cx="336" cy="187"/>
              <a:chOff x="1363" y="409"/>
              <a:chExt cx="223" cy="139"/>
            </a:xfrm>
          </p:grpSpPr>
          <p:sp>
            <p:nvSpPr>
              <p:cNvPr id="16" name="Line 6">
                <a:extLst>
                  <a:ext uri="{FF2B5EF4-FFF2-40B4-BE49-F238E27FC236}">
                    <a16:creationId xmlns:a16="http://schemas.microsoft.com/office/drawing/2014/main" id="{02D599B6-D609-4979-9108-933BB707D1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3" y="411"/>
                <a:ext cx="223" cy="129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endParaRPr>
              </a:p>
            </p:txBody>
          </p:sp>
          <p:sp>
            <p:nvSpPr>
              <p:cNvPr id="17" name="Line 7">
                <a:extLst>
                  <a:ext uri="{FF2B5EF4-FFF2-40B4-BE49-F238E27FC236}">
                    <a16:creationId xmlns:a16="http://schemas.microsoft.com/office/drawing/2014/main" id="{3C3B9631-4A15-455A-8D84-8CCF8826D2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5" y="412"/>
                <a:ext cx="214" cy="12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endParaRPr>
              </a:p>
            </p:txBody>
          </p:sp>
          <p:sp>
            <p:nvSpPr>
              <p:cNvPr id="18" name="Line 8">
                <a:extLst>
                  <a:ext uri="{FF2B5EF4-FFF2-40B4-BE49-F238E27FC236}">
                    <a16:creationId xmlns:a16="http://schemas.microsoft.com/office/drawing/2014/main" id="{4F9FE519-4955-4531-AEE6-2500FA56B1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66" y="420"/>
                <a:ext cx="1" cy="12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endParaRPr>
              </a:p>
            </p:txBody>
          </p:sp>
          <p:sp>
            <p:nvSpPr>
              <p:cNvPr id="19" name="Line 9">
                <a:extLst>
                  <a:ext uri="{FF2B5EF4-FFF2-40B4-BE49-F238E27FC236}">
                    <a16:creationId xmlns:a16="http://schemas.microsoft.com/office/drawing/2014/main" id="{4809A3DF-2C16-451C-833B-7FD95C56B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82" y="409"/>
                <a:ext cx="1" cy="12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3059B90-D16C-4128-A055-89D866291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6" y="3197"/>
              <a:ext cx="99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Faculty</a:t>
              </a: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8A46E967-69A4-4B49-8A32-A41148396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" y="3168"/>
              <a:ext cx="93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Course</a:t>
              </a: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B1C7EFAE-B658-4093-AC72-90305BBD5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1" y="3450"/>
              <a:ext cx="36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Faculty.FacId = Course.FacID</a:t>
              </a:r>
              <a:endParaRPr kumimoji="0" lang="en-US" altLang="en-US" sz="3600" b="0" i="0" u="none" strike="noStrike" kern="1200" cap="none" spc="0" normalizeH="0" baseline="-2500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1DC9C-7BCF-4988-90FC-2EAF03E8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CAB2D9-995D-425A-8425-97C4D13B7DC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660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-join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44958" y="3364895"/>
          <a:ext cx="5979299" cy="3028680"/>
        </p:xfrm>
        <a:graphic>
          <a:graphicData uri="http://schemas.openxmlformats.org/drawingml/2006/table">
            <a:tbl>
              <a:tblPr/>
              <a:tblGrid>
                <a:gridCol w="1368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8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2412">
                  <a:extLst>
                    <a:ext uri="{9D8B030D-6E8A-4147-A177-3AD203B41FA5}">
                      <a16:colId xmlns:a16="http://schemas.microsoft.com/office/drawing/2014/main" val="63783334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Course.FacId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CSE305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Software Requirement Engineering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402522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518971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1171781" y="3354857"/>
          <a:ext cx="3473177" cy="3038718"/>
        </p:xfrm>
        <a:graphic>
          <a:graphicData uri="http://schemas.openxmlformats.org/drawingml/2006/table">
            <a:tbl>
              <a:tblPr/>
              <a:tblGrid>
                <a:gridCol w="1254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Faculty.FacId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4952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Zafar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</a:tbl>
          </a:graphicData>
        </a:graphic>
      </p:graphicFrame>
      <p:grpSp>
        <p:nvGrpSpPr>
          <p:cNvPr id="9" name="Group 13">
            <a:extLst>
              <a:ext uri="{FF2B5EF4-FFF2-40B4-BE49-F238E27FC236}">
                <a16:creationId xmlns:a16="http://schemas.microsoft.com/office/drawing/2014/main" id="{DCF091D5-A9CE-4A44-8AF5-4955F5AD729E}"/>
              </a:ext>
            </a:extLst>
          </p:cNvPr>
          <p:cNvGrpSpPr>
            <a:grpSpLocks/>
          </p:cNvGrpSpPr>
          <p:nvPr/>
        </p:nvGrpSpPr>
        <p:grpSpPr bwMode="auto">
          <a:xfrm>
            <a:off x="2712991" y="2053668"/>
            <a:ext cx="7516813" cy="909638"/>
            <a:chOff x="1416" y="3168"/>
            <a:chExt cx="4735" cy="573"/>
          </a:xfrm>
        </p:grpSpPr>
        <p:grpSp>
          <p:nvGrpSpPr>
            <p:cNvPr id="10" name="Group 5">
              <a:extLst>
                <a:ext uri="{FF2B5EF4-FFF2-40B4-BE49-F238E27FC236}">
                  <a16:creationId xmlns:a16="http://schemas.microsoft.com/office/drawing/2014/main" id="{68E0F600-B30E-49C3-A9DE-413ED5751F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3323"/>
              <a:ext cx="336" cy="187"/>
              <a:chOff x="1363" y="409"/>
              <a:chExt cx="223" cy="139"/>
            </a:xfrm>
          </p:grpSpPr>
          <p:sp>
            <p:nvSpPr>
              <p:cNvPr id="16" name="Line 6">
                <a:extLst>
                  <a:ext uri="{FF2B5EF4-FFF2-40B4-BE49-F238E27FC236}">
                    <a16:creationId xmlns:a16="http://schemas.microsoft.com/office/drawing/2014/main" id="{02D599B6-D609-4979-9108-933BB707D1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3" y="411"/>
                <a:ext cx="223" cy="129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endParaRPr>
              </a:p>
            </p:txBody>
          </p:sp>
          <p:sp>
            <p:nvSpPr>
              <p:cNvPr id="17" name="Line 7">
                <a:extLst>
                  <a:ext uri="{FF2B5EF4-FFF2-40B4-BE49-F238E27FC236}">
                    <a16:creationId xmlns:a16="http://schemas.microsoft.com/office/drawing/2014/main" id="{3C3B9631-4A15-455A-8D84-8CCF8826D2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5" y="412"/>
                <a:ext cx="214" cy="12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endParaRPr>
              </a:p>
            </p:txBody>
          </p:sp>
          <p:sp>
            <p:nvSpPr>
              <p:cNvPr id="18" name="Line 8">
                <a:extLst>
                  <a:ext uri="{FF2B5EF4-FFF2-40B4-BE49-F238E27FC236}">
                    <a16:creationId xmlns:a16="http://schemas.microsoft.com/office/drawing/2014/main" id="{4F9FE519-4955-4531-AEE6-2500FA56B1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66" y="420"/>
                <a:ext cx="1" cy="12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endParaRPr>
              </a:p>
            </p:txBody>
          </p:sp>
          <p:sp>
            <p:nvSpPr>
              <p:cNvPr id="19" name="Line 9">
                <a:extLst>
                  <a:ext uri="{FF2B5EF4-FFF2-40B4-BE49-F238E27FC236}">
                    <a16:creationId xmlns:a16="http://schemas.microsoft.com/office/drawing/2014/main" id="{4809A3DF-2C16-451C-833B-7FD95C56B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82" y="409"/>
                <a:ext cx="1" cy="12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+mn-cs"/>
                </a:endParaRPr>
              </a:p>
            </p:txBody>
          </p:sp>
        </p:grp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3059B90-D16C-4128-A055-89D866291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6" y="3197"/>
              <a:ext cx="99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Faculty</a:t>
              </a: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8A46E967-69A4-4B49-8A32-A41148396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" y="3168"/>
              <a:ext cx="93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Course</a:t>
              </a: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B1C7EFAE-B658-4093-AC72-90305BBD5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1" y="3450"/>
              <a:ext cx="36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Faculty.FacId = Course.FacID</a:t>
              </a:r>
              <a:endParaRPr kumimoji="0" lang="en-US" altLang="en-US" sz="3600" b="0" i="0" u="none" strike="noStrike" kern="1200" cap="none" spc="0" normalizeH="0" baseline="-2500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  <a:sym typeface="Symbol" panose="05050102010706020507" pitchFamily="18" charset="2"/>
              </a:endParaRP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C04F8-683F-4A2B-B4C6-EA88E764D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CAB2D9-995D-425A-8425-97C4D13B7DC7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033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BD99-6204-4830-95A8-B5B45ECD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53712-2C1B-4C2D-B0F0-06931DB9C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98681"/>
          </a:xfrm>
        </p:spPr>
        <p:txBody>
          <a:bodyPr>
            <a:normAutofit fontScale="92500" lnSpcReduction="20000"/>
          </a:bodyPr>
          <a:lstStyle/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Union of two relations R and S defines a relation that contains all tuples either in R or S or both, duplicate tuples being eliminated.</a:t>
            </a:r>
          </a:p>
          <a:p>
            <a:pPr marL="0" indent="0">
              <a:buNone/>
            </a:pP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r>
              <a:rPr lang="en-GB" alt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Notation: </a:t>
            </a:r>
          </a:p>
          <a:p>
            <a:pPr marL="0" indent="0">
              <a:buNone/>
            </a:pPr>
            <a:r>
              <a:rPr lang="en-GB" altLang="en-US" sz="3900" dirty="0">
                <a:latin typeface="Times New Roman" panose="02020603050405020304" pitchFamily="18" charset="0"/>
                <a:cs typeface="Times New Roman" panose="02020603050405020304" pitchFamily="18" charset="0"/>
                <a:sym typeface="StarMath" pitchFamily="2" charset="2"/>
              </a:rPr>
              <a:t>									</a:t>
            </a:r>
            <a:r>
              <a:rPr lang="en-US" altLang="en-US" sz="3900" dirty="0">
                <a:latin typeface="Times New Roman" panose="02020603050405020304" pitchFamily="18" charset="0"/>
                <a:cs typeface="Times New Roman" panose="02020603050405020304" pitchFamily="18" charset="0"/>
                <a:sym typeface="StarMath" pitchFamily="2" charset="2"/>
              </a:rPr>
              <a:t>R U S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932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F1A2-9E4A-4F1E-8964-5348DDEA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Union</a:t>
            </a:r>
            <a:endParaRPr lang="en-US" sz="40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8D71832-E161-4C69-A457-0621609F1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299" y="1831970"/>
            <a:ext cx="8285580" cy="682811"/>
          </a:xfrm>
        </p:spPr>
      </p:pic>
      <p:graphicFrame>
        <p:nvGraphicFramePr>
          <p:cNvPr id="16" name="Group 74">
            <a:extLst>
              <a:ext uri="{FF2B5EF4-FFF2-40B4-BE49-F238E27FC236}">
                <a16:creationId xmlns:a16="http://schemas.microsoft.com/office/drawing/2014/main" id="{6CBA4E4F-9FD2-43E2-B96F-FA04E16216BF}"/>
              </a:ext>
            </a:extLst>
          </p:cNvPr>
          <p:cNvGraphicFramePr>
            <a:graphicFrameLocks noGrp="1"/>
          </p:cNvGraphicFramePr>
          <p:nvPr/>
        </p:nvGraphicFramePr>
        <p:xfrm>
          <a:off x="2524866" y="2496058"/>
          <a:ext cx="8156824" cy="2302160"/>
        </p:xfrm>
        <a:graphic>
          <a:graphicData uri="http://schemas.openxmlformats.org/drawingml/2006/table">
            <a:tbl>
              <a:tblPr/>
              <a:tblGrid>
                <a:gridCol w="1557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0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6277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BSCS 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Database Systems I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9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CSC336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BSCS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Web Technologies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90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CSC101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BSSE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Introduction to 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49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BSSE 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Group 59">
            <a:extLst>
              <a:ext uri="{FF2B5EF4-FFF2-40B4-BE49-F238E27FC236}">
                <a16:creationId xmlns:a16="http://schemas.microsoft.com/office/drawing/2014/main" id="{BE3DEEFB-3C78-41A3-99DF-26DEA2495CC7}"/>
              </a:ext>
            </a:extLst>
          </p:cNvPr>
          <p:cNvGraphicFramePr>
            <a:graphicFrameLocks noGrp="1"/>
          </p:cNvGraphicFramePr>
          <p:nvPr/>
        </p:nvGraphicFramePr>
        <p:xfrm>
          <a:off x="2524866" y="5120900"/>
          <a:ext cx="8229600" cy="558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CCode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Program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Cred_Hrs</a:t>
                      </a:r>
                      <a:endParaRPr kumimoji="0" lang="en-US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CourseTitle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Group 42">
            <a:extLst>
              <a:ext uri="{FF2B5EF4-FFF2-40B4-BE49-F238E27FC236}">
                <a16:creationId xmlns:a16="http://schemas.microsoft.com/office/drawing/2014/main" id="{B9880E01-6750-4462-9162-663790F58DC7}"/>
              </a:ext>
            </a:extLst>
          </p:cNvPr>
          <p:cNvGraphicFramePr>
            <a:graphicFrameLocks noGrp="1"/>
          </p:cNvGraphicFramePr>
          <p:nvPr/>
        </p:nvGraphicFramePr>
        <p:xfrm>
          <a:off x="2524866" y="5679700"/>
          <a:ext cx="8229600" cy="1038852"/>
        </p:xfrm>
        <a:graphic>
          <a:graphicData uri="http://schemas.openxmlformats.org/drawingml/2006/table">
            <a:tbl>
              <a:tblPr/>
              <a:tblGrid>
                <a:gridCol w="159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2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BSSE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CSC101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MCS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Introduction to Computing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 Box 71">
            <a:extLst>
              <a:ext uri="{FF2B5EF4-FFF2-40B4-BE49-F238E27FC236}">
                <a16:creationId xmlns:a16="http://schemas.microsoft.com/office/drawing/2014/main" id="{4096BF17-9696-4192-8563-80655325D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430" y="1944775"/>
            <a:ext cx="1288869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Course1</a:t>
            </a:r>
          </a:p>
        </p:txBody>
      </p:sp>
      <p:sp>
        <p:nvSpPr>
          <p:cNvPr id="20" name="Text Box 71">
            <a:extLst>
              <a:ext uri="{FF2B5EF4-FFF2-40B4-BE49-F238E27FC236}">
                <a16:creationId xmlns:a16="http://schemas.microsoft.com/office/drawing/2014/main" id="{D4085963-D4AC-4F46-A57D-218C03081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534" y="4798218"/>
            <a:ext cx="1288869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latin typeface="Times New Roman" panose="02020603050405020304" pitchFamily="18" charset="0"/>
              </a:rPr>
              <a:t>Course2</a:t>
            </a:r>
          </a:p>
        </p:txBody>
      </p:sp>
    </p:spTree>
    <p:extLst>
      <p:ext uri="{BB962C8B-B14F-4D97-AF65-F5344CB8AC3E}">
        <p14:creationId xmlns:p14="http://schemas.microsoft.com/office/powerpoint/2010/main" val="1462696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F1A2-9E4A-4F1E-8964-5348DDEA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Union</a:t>
            </a:r>
            <a:endParaRPr lang="en-US" sz="40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8D71832-E161-4C69-A457-0621609F1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4728" y="3095315"/>
            <a:ext cx="8285580" cy="682811"/>
          </a:xfrm>
        </p:spPr>
      </p:pic>
      <p:graphicFrame>
        <p:nvGraphicFramePr>
          <p:cNvPr id="16" name="Group 74">
            <a:extLst>
              <a:ext uri="{FF2B5EF4-FFF2-40B4-BE49-F238E27FC236}">
                <a16:creationId xmlns:a16="http://schemas.microsoft.com/office/drawing/2014/main" id="{6CBA4E4F-9FD2-43E2-B96F-FA04E16216BF}"/>
              </a:ext>
            </a:extLst>
          </p:cNvPr>
          <p:cNvGraphicFramePr>
            <a:graphicFrameLocks noGrp="1"/>
          </p:cNvGraphicFramePr>
          <p:nvPr/>
        </p:nvGraphicFramePr>
        <p:xfrm>
          <a:off x="2159106" y="3767626"/>
          <a:ext cx="8156824" cy="2748838"/>
        </p:xfrm>
        <a:graphic>
          <a:graphicData uri="http://schemas.openxmlformats.org/drawingml/2006/table">
            <a:tbl>
              <a:tblPr/>
              <a:tblGrid>
                <a:gridCol w="1557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0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BSCS 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Database Systems I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9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CSC336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BSCS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Web Technologies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90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CSC101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BSSE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Introduction to 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49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BSSE 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49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CSC101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MCS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Introduction to Computing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215308"/>
                  </a:ext>
                </a:extLst>
              </a:tr>
            </a:tbl>
          </a:graphicData>
        </a:graphic>
      </p:graphicFrame>
      <p:sp>
        <p:nvSpPr>
          <p:cNvPr id="19" name="Text Box 71">
            <a:extLst>
              <a:ext uri="{FF2B5EF4-FFF2-40B4-BE49-F238E27FC236}">
                <a16:creationId xmlns:a16="http://schemas.microsoft.com/office/drawing/2014/main" id="{4096BF17-9696-4192-8563-80655325D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737" y="2242742"/>
            <a:ext cx="4184159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Course1 </a:t>
            </a:r>
            <a:r>
              <a:rPr lang="en-US" alt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tarMath" pitchFamily="2" charset="2"/>
              </a:rPr>
              <a:t>U </a:t>
            </a:r>
            <a:r>
              <a:rPr lang="en-US" alt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Course2</a:t>
            </a:r>
          </a:p>
        </p:txBody>
      </p:sp>
    </p:spTree>
    <p:extLst>
      <p:ext uri="{BB962C8B-B14F-4D97-AF65-F5344CB8AC3E}">
        <p14:creationId xmlns:p14="http://schemas.microsoft.com/office/powerpoint/2010/main" val="4016665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5E62D-2AF0-4BC8-B02F-9C3C3AB9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Branch relation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45FB3B-878A-48EA-B041-7F53EDCDD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612" y="2251533"/>
            <a:ext cx="6816159" cy="3278776"/>
          </a:xfrm>
        </p:spPr>
      </p:pic>
    </p:spTree>
    <p:extLst>
      <p:ext uri="{BB962C8B-B14F-4D97-AF65-F5344CB8AC3E}">
        <p14:creationId xmlns:p14="http://schemas.microsoft.com/office/powerpoint/2010/main" val="4080745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031D-8637-44D3-9016-7016FF4B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Property-For-Rent  relation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B72DE8-727E-4052-9FB7-6FFCA03E8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509" y="2605949"/>
            <a:ext cx="8732524" cy="310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165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50FF-168A-4694-92E5-1CA45F66F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Union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8F5C4-957B-453E-A681-43D18B4F7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04691"/>
          </a:xfrm>
        </p:spPr>
        <p:txBody>
          <a:bodyPr/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cities where there is either a branch ofﬁce or a property for rent</a:t>
            </a:r>
          </a:p>
          <a:p>
            <a:pPr marL="0" indent="0" algn="ctr">
              <a:buNone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(Branch)  ∪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PropertyForRent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E3A5ED-3DCD-4E41-B3F1-79661FCCC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622" y="4095476"/>
            <a:ext cx="1698171" cy="258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71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DA752-C7BF-42B1-B799-3FD44D98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33218-AFEF-48E7-BC23-C0324BE40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90000"/>
              </a:lnSpc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Intersection: R </a:t>
            </a:r>
            <a:r>
              <a:rPr lang="en-US" altLang="en-US" sz="4000" dirty="0"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  <a:sym typeface="StarMath" pitchFamily="2" charset="2"/>
              </a:rPr>
              <a:t>⋂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is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the set of all tuples that are in both R and S</a:t>
            </a: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lvl="1" algn="just">
              <a:lnSpc>
                <a:spcPct val="9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R and S must be union-compatible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983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F1A2-9E4A-4F1E-8964-5348DDEA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intersection</a:t>
            </a:r>
            <a:endParaRPr lang="en-US" sz="40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8D71832-E161-4C69-A457-0621609F1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4728" y="3095315"/>
            <a:ext cx="8285580" cy="682811"/>
          </a:xfrm>
        </p:spPr>
      </p:pic>
      <p:graphicFrame>
        <p:nvGraphicFramePr>
          <p:cNvPr id="16" name="Group 74">
            <a:extLst>
              <a:ext uri="{FF2B5EF4-FFF2-40B4-BE49-F238E27FC236}">
                <a16:creationId xmlns:a16="http://schemas.microsoft.com/office/drawing/2014/main" id="{6CBA4E4F-9FD2-43E2-B96F-FA04E16216BF}"/>
              </a:ext>
            </a:extLst>
          </p:cNvPr>
          <p:cNvGraphicFramePr>
            <a:graphicFrameLocks noGrp="1"/>
          </p:cNvGraphicFramePr>
          <p:nvPr/>
        </p:nvGraphicFramePr>
        <p:xfrm>
          <a:off x="2159106" y="3767626"/>
          <a:ext cx="8156824" cy="523491"/>
        </p:xfrm>
        <a:graphic>
          <a:graphicData uri="http://schemas.openxmlformats.org/drawingml/2006/table">
            <a:tbl>
              <a:tblPr/>
              <a:tblGrid>
                <a:gridCol w="1557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0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49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BSSE 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Box 71">
            <a:extLst>
              <a:ext uri="{FF2B5EF4-FFF2-40B4-BE49-F238E27FC236}">
                <a16:creationId xmlns:a16="http://schemas.microsoft.com/office/drawing/2014/main" id="{4096BF17-9696-4192-8563-80655325D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737" y="2242742"/>
            <a:ext cx="4184159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Course1 </a:t>
            </a:r>
            <a:r>
              <a:rPr lang="en-US" alt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tarMath" pitchFamily="2" charset="2"/>
              </a:rPr>
              <a:t>⋂ </a:t>
            </a:r>
            <a:r>
              <a:rPr lang="en-US" alt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Course2</a:t>
            </a:r>
          </a:p>
        </p:txBody>
      </p:sp>
    </p:spTree>
    <p:extLst>
      <p:ext uri="{BB962C8B-B14F-4D97-AF65-F5344CB8AC3E}">
        <p14:creationId xmlns:p14="http://schemas.microsoft.com/office/powerpoint/2010/main" val="373239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F1A2-9E4A-4F1E-8964-5348DDEA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intersection</a:t>
            </a:r>
            <a:endParaRPr lang="en-US" sz="4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D8660B-F94C-4AB3-A632-2C0AFAF8E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082417"/>
            <a:ext cx="11029615" cy="4527389"/>
          </a:xfrm>
        </p:spPr>
        <p:txBody>
          <a:bodyPr/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cities where there is both a branch office and at least one property for rent </a:t>
            </a:r>
          </a:p>
          <a:p>
            <a:pPr marL="0" indent="0" algn="just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(Branch) ∩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PropertyForRent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9E661F-3B94-461B-BF35-4BB6B292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551" y="4532811"/>
            <a:ext cx="1588444" cy="198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961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A6D6-3458-4576-88F4-00C1C4E5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Difference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A19A-38E9-47C2-8239-8A7A94506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lnSpc>
                <a:spcPct val="90000"/>
              </a:lnSpc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Difference: R – S is the set of tuples that are in R but  not in S.</a:t>
            </a: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R and S must be union-compatible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097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F1A2-9E4A-4F1E-8964-5348DDEA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set difference</a:t>
            </a:r>
            <a:endParaRPr lang="en-US" sz="4000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8D71832-E161-4C69-A457-0621609F15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4728" y="3095315"/>
            <a:ext cx="8285580" cy="682811"/>
          </a:xfrm>
        </p:spPr>
      </p:pic>
      <p:graphicFrame>
        <p:nvGraphicFramePr>
          <p:cNvPr id="16" name="Group 74">
            <a:extLst>
              <a:ext uri="{FF2B5EF4-FFF2-40B4-BE49-F238E27FC236}">
                <a16:creationId xmlns:a16="http://schemas.microsoft.com/office/drawing/2014/main" id="{6CBA4E4F-9FD2-43E2-B96F-FA04E16216BF}"/>
              </a:ext>
            </a:extLst>
          </p:cNvPr>
          <p:cNvGraphicFramePr>
            <a:graphicFrameLocks noGrp="1"/>
          </p:cNvGraphicFramePr>
          <p:nvPr/>
        </p:nvGraphicFramePr>
        <p:xfrm>
          <a:off x="2159106" y="3767626"/>
          <a:ext cx="8156824" cy="1701856"/>
        </p:xfrm>
        <a:graphic>
          <a:graphicData uri="http://schemas.openxmlformats.org/drawingml/2006/table">
            <a:tbl>
              <a:tblPr/>
              <a:tblGrid>
                <a:gridCol w="1557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0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BSCS 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Database Systems I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49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CSC336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BSCS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Web Technologies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901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CSC101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BSSE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Introduction to 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 Box 71">
            <a:extLst>
              <a:ext uri="{FF2B5EF4-FFF2-40B4-BE49-F238E27FC236}">
                <a16:creationId xmlns:a16="http://schemas.microsoft.com/office/drawing/2014/main" id="{4096BF17-9696-4192-8563-80655325D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737" y="2242742"/>
            <a:ext cx="4184159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Course1 -</a:t>
            </a:r>
            <a:r>
              <a:rPr lang="en-US" alt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tarMath" pitchFamily="2" charset="2"/>
              </a:rPr>
              <a:t> </a:t>
            </a:r>
            <a:r>
              <a:rPr lang="en-US" alt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Course2</a:t>
            </a:r>
          </a:p>
        </p:txBody>
      </p:sp>
    </p:spTree>
    <p:extLst>
      <p:ext uri="{BB962C8B-B14F-4D97-AF65-F5344CB8AC3E}">
        <p14:creationId xmlns:p14="http://schemas.microsoft.com/office/powerpoint/2010/main" val="39407216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D4A9-0BA3-4619-AC94-4FC1BFB2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 2: set difference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9140-5D3A-429F-A0D8-28E0F2A2C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33813"/>
          </a:xfrm>
        </p:spPr>
        <p:txBody>
          <a:bodyPr/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cities where there is a branch ofﬁce but no  properties for rent</a:t>
            </a:r>
          </a:p>
          <a:p>
            <a:pPr marL="0" indent="0" algn="ctr">
              <a:buNone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(Branch)  -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3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PropertyForRent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5F813-27E2-4700-852E-2BD356CE0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412" y="4536050"/>
            <a:ext cx="1371057" cy="16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21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A6D6-3458-4576-88F4-00C1C4E5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join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A19A-38E9-47C2-8239-8A7A9450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4115"/>
            <a:ext cx="11029615" cy="4781006"/>
          </a:xfrm>
        </p:spPr>
        <p:txBody>
          <a:bodyPr>
            <a:normAutofit fontScale="55000" lnSpcReduction="20000"/>
          </a:bodyPr>
          <a:lstStyle/>
          <a:p>
            <a:pPr lvl="1" algn="just">
              <a:lnSpc>
                <a:spcPct val="90000"/>
              </a:lnSpc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 outer join does not require each record in the two joined tables to have a matching record.</a:t>
            </a: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joined table retains each record - even if no other   </a:t>
            </a:r>
          </a:p>
          <a:p>
            <a:pPr marL="324000" lvl="1" indent="0" algn="just">
              <a:lnSpc>
                <a:spcPct val="90000"/>
              </a:lnSpc>
              <a:buNone/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matching record exists.</a:t>
            </a:r>
          </a:p>
          <a:p>
            <a:pPr lvl="1" algn="just">
              <a:lnSpc>
                <a:spcPct val="90000"/>
              </a:lnSpc>
            </a:pPr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join subdivide further into: </a:t>
            </a:r>
          </a:p>
          <a:p>
            <a:pPr marL="898525" lvl="2" indent="15875" algn="just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left outer join</a:t>
            </a:r>
          </a:p>
          <a:p>
            <a:pPr marL="898525" lvl="2" indent="15875" algn="just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right outer join </a:t>
            </a:r>
          </a:p>
          <a:p>
            <a:pPr marL="898525" lvl="2" indent="15875" algn="just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 outer join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38E0B-A693-4D22-A488-640AD05E5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98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A6D6-3458-4576-88F4-00C1C4E5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outer join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A19A-38E9-47C2-8239-8A7A9450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8617"/>
            <a:ext cx="11029615" cy="4493623"/>
          </a:xfrm>
        </p:spPr>
        <p:txBody>
          <a:bodyPr>
            <a:normAutofit lnSpcReduction="10000"/>
          </a:bodyPr>
          <a:lstStyle/>
          <a:p>
            <a:pPr marL="324000" lvl="1" indent="0" algn="just">
              <a:lnSpc>
                <a:spcPct val="9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all tuples of the left table, even if the join condition does not find any matching record in the right table. </a:t>
            </a: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the values from an inner join plus all values in the left table that do not match to the right table, Pad the non-matching tuples with Null (empty). </a:t>
            </a:r>
          </a:p>
          <a:p>
            <a:pPr lvl="1" algn="just">
              <a:lnSpc>
                <a:spcPct val="9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6B35B7-6B80-4127-8E6F-D8EA4774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648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Left outer join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29224" y="2601643"/>
          <a:ext cx="5654315" cy="2553192"/>
        </p:xfrm>
        <a:graphic>
          <a:graphicData uri="http://schemas.openxmlformats.org/drawingml/2006/table">
            <a:tbl>
              <a:tblPr/>
              <a:tblGrid>
                <a:gridCol w="126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63783334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CSE305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Software Requirement Engineering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402522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1726201" y="2601643"/>
          <a:ext cx="2858862" cy="2077704"/>
        </p:xfrm>
        <a:graphic>
          <a:graphicData uri="http://schemas.openxmlformats.org/drawingml/2006/table">
            <a:tbl>
              <a:tblPr/>
              <a:tblGrid>
                <a:gridCol w="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Zafar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Mohammad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5D4269-0344-41C5-8A9F-1DD4DEB0B38B}"/>
              </a:ext>
            </a:extLst>
          </p:cNvPr>
          <p:cNvSpPr txBox="1"/>
          <p:nvPr/>
        </p:nvSpPr>
        <p:spPr>
          <a:xfrm>
            <a:off x="1726201" y="1892312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Faculty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B1FA7-1D40-4F2C-A3D8-CDAF96628FC0}"/>
              </a:ext>
            </a:extLst>
          </p:cNvPr>
          <p:cNvSpPr txBox="1"/>
          <p:nvPr/>
        </p:nvSpPr>
        <p:spPr>
          <a:xfrm>
            <a:off x="5581649" y="1998682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Course</a:t>
            </a:r>
          </a:p>
        </p:txBody>
      </p:sp>
      <p:grpSp>
        <p:nvGrpSpPr>
          <p:cNvPr id="9" name="Group 13">
            <a:extLst>
              <a:ext uri="{FF2B5EF4-FFF2-40B4-BE49-F238E27FC236}">
                <a16:creationId xmlns:a16="http://schemas.microsoft.com/office/drawing/2014/main" id="{DCF091D5-A9CE-4A44-8AF5-4955F5AD729E}"/>
              </a:ext>
            </a:extLst>
          </p:cNvPr>
          <p:cNvGrpSpPr>
            <a:grpSpLocks/>
          </p:cNvGrpSpPr>
          <p:nvPr/>
        </p:nvGrpSpPr>
        <p:grpSpPr bwMode="auto">
          <a:xfrm>
            <a:off x="2920205" y="5437779"/>
            <a:ext cx="3913188" cy="646113"/>
            <a:chOff x="1500" y="3197"/>
            <a:chExt cx="2465" cy="407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3059B90-D16C-4128-A055-89D866291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" y="3197"/>
              <a:ext cx="99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Faculty</a:t>
              </a: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8A46E967-69A4-4B49-8A32-A41148396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6" y="3197"/>
              <a:ext cx="93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Course</a:t>
              </a:r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id="{014A2AD0-1CE6-4365-A754-AD33D0A73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205" y="5648980"/>
            <a:ext cx="704850" cy="388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411A0-7609-43DB-9146-9B39EC98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800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Left outer join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64333" y="2854916"/>
          <a:ext cx="5654315" cy="3072618"/>
        </p:xfrm>
        <a:graphic>
          <a:graphicData uri="http://schemas.openxmlformats.org/drawingml/2006/table">
            <a:tbl>
              <a:tblPr/>
              <a:tblGrid>
                <a:gridCol w="126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63783334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CSE305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Software Requirement Engineering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862335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01149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2005471" y="2854916"/>
          <a:ext cx="2858862" cy="3052336"/>
        </p:xfrm>
        <a:graphic>
          <a:graphicData uri="http://schemas.openxmlformats.org/drawingml/2006/table">
            <a:tbl>
              <a:tblPr/>
              <a:tblGrid>
                <a:gridCol w="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632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Zafar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960238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Mohammad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</a:tbl>
          </a:graphicData>
        </a:graphic>
      </p:graphicFrame>
      <p:grpSp>
        <p:nvGrpSpPr>
          <p:cNvPr id="9" name="Group 13">
            <a:extLst>
              <a:ext uri="{FF2B5EF4-FFF2-40B4-BE49-F238E27FC236}">
                <a16:creationId xmlns:a16="http://schemas.microsoft.com/office/drawing/2014/main" id="{DCF091D5-A9CE-4A44-8AF5-4955F5AD729E}"/>
              </a:ext>
            </a:extLst>
          </p:cNvPr>
          <p:cNvGrpSpPr>
            <a:grpSpLocks/>
          </p:cNvGrpSpPr>
          <p:nvPr/>
        </p:nvGrpSpPr>
        <p:grpSpPr bwMode="auto">
          <a:xfrm>
            <a:off x="3280008" y="2021927"/>
            <a:ext cx="3690938" cy="646113"/>
            <a:chOff x="1500" y="3197"/>
            <a:chExt cx="2325" cy="407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3059B90-D16C-4128-A055-89D866291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" y="3197"/>
              <a:ext cx="99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Faculty</a:t>
              </a: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8A46E967-69A4-4B49-8A32-A41148396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" y="3197"/>
              <a:ext cx="93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Course</a:t>
              </a:r>
            </a:p>
          </p:txBody>
        </p: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id="{014A2AD0-1CE6-4365-A754-AD33D0A73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278" y="2184334"/>
            <a:ext cx="704850" cy="388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EF60C-1CE3-4C52-9CED-27E4790B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19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A6D6-3458-4576-88F4-00C1C4E5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outer join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A19A-38E9-47C2-8239-8A7A9450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8617"/>
            <a:ext cx="11029615" cy="4493623"/>
          </a:xfrm>
        </p:spPr>
        <p:txBody>
          <a:bodyPr>
            <a:normAutofit lnSpcReduction="10000"/>
          </a:bodyPr>
          <a:lstStyle/>
          <a:p>
            <a:pPr marL="324000" lvl="1" indent="0" algn="just">
              <a:lnSpc>
                <a:spcPct val="9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all tuples of the right table, even if the join condition does not find any matching record in the left table. </a:t>
            </a: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the values from an inner join plus all values in the right table that do not match to the left table, Pad the non-matching tuples with Null (empty).</a:t>
            </a: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BBCF2-08B0-4C26-912B-0A56B098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09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righ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outer join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42287" y="2509698"/>
          <a:ext cx="5654315" cy="3548106"/>
        </p:xfrm>
        <a:graphic>
          <a:graphicData uri="http://schemas.openxmlformats.org/drawingml/2006/table">
            <a:tbl>
              <a:tblPr/>
              <a:tblGrid>
                <a:gridCol w="126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63783334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CSE305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Software Requirement Engineering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402522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CSC471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Distributed Database Systems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24843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1770902" y="2515047"/>
          <a:ext cx="2858862" cy="2077704"/>
        </p:xfrm>
        <a:graphic>
          <a:graphicData uri="http://schemas.openxmlformats.org/drawingml/2006/table">
            <a:tbl>
              <a:tblPr/>
              <a:tblGrid>
                <a:gridCol w="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Zafar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Mohammad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5D4269-0344-41C5-8A9F-1DD4DEB0B38B}"/>
              </a:ext>
            </a:extLst>
          </p:cNvPr>
          <p:cNvSpPr txBox="1"/>
          <p:nvPr/>
        </p:nvSpPr>
        <p:spPr>
          <a:xfrm>
            <a:off x="1798184" y="1863367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Faculty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B1FA7-1D40-4F2C-A3D8-CDAF96628FC0}"/>
              </a:ext>
            </a:extLst>
          </p:cNvPr>
          <p:cNvSpPr txBox="1"/>
          <p:nvPr/>
        </p:nvSpPr>
        <p:spPr>
          <a:xfrm>
            <a:off x="5384350" y="1863367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24E38-C8F7-4D87-9FD3-3BAB1DE64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73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</a:t>
            </a:r>
            <a:r>
              <a:rPr kumimoji="0" lang="en-US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right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outer join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83381" y="2473289"/>
          <a:ext cx="5654315" cy="3548106"/>
        </p:xfrm>
        <a:graphic>
          <a:graphicData uri="http://schemas.openxmlformats.org/drawingml/2006/table">
            <a:tbl>
              <a:tblPr/>
              <a:tblGrid>
                <a:gridCol w="126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63783334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CSE305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Software Requirement Engineering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862335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CSC471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Distributed Database Systems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01149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1855907" y="2473289"/>
          <a:ext cx="3006871" cy="3557103"/>
        </p:xfrm>
        <a:graphic>
          <a:graphicData uri="http://schemas.openxmlformats.org/drawingml/2006/table">
            <a:tbl>
              <a:tblPr/>
              <a:tblGrid>
                <a:gridCol w="1012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632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Zafar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960238"/>
                  </a:ext>
                </a:extLst>
              </a:tr>
              <a:tr h="1024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</a:tbl>
          </a:graphicData>
        </a:graphic>
      </p:graphicFrame>
      <p:grpSp>
        <p:nvGrpSpPr>
          <p:cNvPr id="9" name="Group 13">
            <a:extLst>
              <a:ext uri="{FF2B5EF4-FFF2-40B4-BE49-F238E27FC236}">
                <a16:creationId xmlns:a16="http://schemas.microsoft.com/office/drawing/2014/main" id="{DCF091D5-A9CE-4A44-8AF5-4955F5AD729E}"/>
              </a:ext>
            </a:extLst>
          </p:cNvPr>
          <p:cNvGrpSpPr>
            <a:grpSpLocks/>
          </p:cNvGrpSpPr>
          <p:nvPr/>
        </p:nvGrpSpPr>
        <p:grpSpPr bwMode="auto">
          <a:xfrm>
            <a:off x="3345608" y="1827176"/>
            <a:ext cx="3690938" cy="646113"/>
            <a:chOff x="1500" y="3197"/>
            <a:chExt cx="2325" cy="407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3059B90-D16C-4128-A055-89D866291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" y="3197"/>
              <a:ext cx="99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Faculty</a:t>
              </a: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8A46E967-69A4-4B49-8A32-A41148396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6" y="3197"/>
              <a:ext cx="93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Course</a:t>
              </a:r>
            </a:p>
          </p:txBody>
        </p:sp>
      </p:grpSp>
      <p:pic>
        <p:nvPicPr>
          <p:cNvPr id="10" name="Picture 3">
            <a:extLst>
              <a:ext uri="{FF2B5EF4-FFF2-40B4-BE49-F238E27FC236}">
                <a16:creationId xmlns:a16="http://schemas.microsoft.com/office/drawing/2014/main" id="{2B024916-C725-437F-BEA6-4F13CCD4E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795" y="2018913"/>
            <a:ext cx="704088" cy="338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4B832-1FB4-4EE3-AE86-C197A913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669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A6D6-3458-4576-88F4-00C1C4E5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outer join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FA19A-38E9-47C2-8239-8A7A9450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4115"/>
            <a:ext cx="11029615" cy="4781006"/>
          </a:xfrm>
        </p:spPr>
        <p:txBody>
          <a:bodyPr>
            <a:normAutofit lnSpcReduction="10000"/>
          </a:bodyPr>
          <a:lstStyle/>
          <a:p>
            <a:pPr lvl="1" algn="just">
              <a:lnSpc>
                <a:spcPct val="90000"/>
              </a:lnSpc>
            </a:pPr>
            <a:endParaRPr 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all tuples from both relations, padding the     non-matching tuples with Null (empty).</a:t>
            </a:r>
          </a:p>
          <a:p>
            <a:pPr lvl="1" algn="just">
              <a:lnSpc>
                <a:spcPct val="90000"/>
              </a:lnSpc>
            </a:pP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joined table retains each record - even if no other matching record exists.</a:t>
            </a: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4000" lvl="1" indent="0" algn="just">
              <a:lnSpc>
                <a:spcPct val="90000"/>
              </a:lnSpc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endParaRPr 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A2A10-4BEB-4D57-A1A1-89196B0A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808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full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join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81475" y="2379723"/>
          <a:ext cx="5654315" cy="3548106"/>
        </p:xfrm>
        <a:graphic>
          <a:graphicData uri="http://schemas.openxmlformats.org/drawingml/2006/table">
            <a:tbl>
              <a:tblPr/>
              <a:tblGrid>
                <a:gridCol w="126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63783334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CSE305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Software Requirement Engineering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402522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CSC471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Distributed Database Systems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24843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1704157" y="2379723"/>
          <a:ext cx="2858862" cy="2077704"/>
        </p:xfrm>
        <a:graphic>
          <a:graphicData uri="http://schemas.openxmlformats.org/drawingml/2006/table">
            <a:tbl>
              <a:tblPr/>
              <a:tblGrid>
                <a:gridCol w="96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Zafar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Mohammad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5D4269-0344-41C5-8A9F-1DD4DEB0B38B}"/>
              </a:ext>
            </a:extLst>
          </p:cNvPr>
          <p:cNvSpPr txBox="1"/>
          <p:nvPr/>
        </p:nvSpPr>
        <p:spPr>
          <a:xfrm>
            <a:off x="1754505" y="1754243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Faculty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B1FA7-1D40-4F2C-A3D8-CDAF96628FC0}"/>
              </a:ext>
            </a:extLst>
          </p:cNvPr>
          <p:cNvSpPr txBox="1"/>
          <p:nvPr/>
        </p:nvSpPr>
        <p:spPr>
          <a:xfrm>
            <a:off x="5281475" y="1754243"/>
            <a:ext cx="2076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28495-554D-460A-BEC2-6406C538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043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580F-2D7B-46A7-B785-830395AB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</a:t>
            </a:r>
            <a:r>
              <a:rPr lang="en-US" sz="40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outer join</a:t>
            </a:r>
            <a:endParaRPr lang="en-US" dirty="0"/>
          </a:p>
        </p:txBody>
      </p:sp>
      <p:graphicFrame>
        <p:nvGraphicFramePr>
          <p:cNvPr id="6" name="Group 42">
            <a:extLst>
              <a:ext uri="{FF2B5EF4-FFF2-40B4-BE49-F238E27FC236}">
                <a16:creationId xmlns:a16="http://schemas.microsoft.com/office/drawing/2014/main" id="{3CED34AD-3A2C-44B9-B3AB-D6C8411544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3985" y="2370407"/>
          <a:ext cx="5654315" cy="4067532"/>
        </p:xfrm>
        <a:graphic>
          <a:graphicData uri="http://schemas.openxmlformats.org/drawingml/2006/table">
            <a:tbl>
              <a:tblPr/>
              <a:tblGrid>
                <a:gridCol w="126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4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637833342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CCode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CourseTitle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CSC371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Database Systems I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CSE305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Software Requirement Engineering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862335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CSC322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Operating Systems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01149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CSC471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Distributed Database Systems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343414"/>
                  </a:ext>
                </a:extLst>
              </a:tr>
            </a:tbl>
          </a:graphicData>
        </a:graphic>
      </p:graphicFrame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EBA794C7-0C02-44A2-A868-FD85F2148355}"/>
              </a:ext>
            </a:extLst>
          </p:cNvPr>
          <p:cNvGraphicFramePr>
            <a:graphicFrameLocks/>
          </p:cNvGraphicFramePr>
          <p:nvPr/>
        </p:nvGraphicFramePr>
        <p:xfrm>
          <a:off x="2045123" y="2370407"/>
          <a:ext cx="2858862" cy="4049205"/>
        </p:xfrm>
        <a:graphic>
          <a:graphicData uri="http://schemas.openxmlformats.org/drawingml/2006/table">
            <a:tbl>
              <a:tblPr/>
              <a:tblGrid>
                <a:gridCol w="1077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FacId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FName</a:t>
                      </a:r>
                      <a:endParaRPr kumimoji="0" lang="en-US" altLang="en-US" sz="2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632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Tariq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159679"/>
                  </a:ext>
                </a:extLst>
              </a:tr>
              <a:tr h="519113"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3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defRPr sz="40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800">
                          <a:solidFill>
                            <a:srgbClr val="FFCC00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Zafar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960238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Mohammad</a:t>
                      </a:r>
                      <a:endParaRPr kumimoji="0" lang="en-US" alt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43658"/>
                  </a:ext>
                </a:extLst>
              </a:tr>
              <a:tr h="9968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59483"/>
                  </a:ext>
                </a:extLst>
              </a:tr>
            </a:tbl>
          </a:graphicData>
        </a:graphic>
      </p:graphicFrame>
      <p:grpSp>
        <p:nvGrpSpPr>
          <p:cNvPr id="9" name="Group 13">
            <a:extLst>
              <a:ext uri="{FF2B5EF4-FFF2-40B4-BE49-F238E27FC236}">
                <a16:creationId xmlns:a16="http://schemas.microsoft.com/office/drawing/2014/main" id="{DCF091D5-A9CE-4A44-8AF5-4955F5AD729E}"/>
              </a:ext>
            </a:extLst>
          </p:cNvPr>
          <p:cNvGrpSpPr>
            <a:grpSpLocks/>
          </p:cNvGrpSpPr>
          <p:nvPr/>
        </p:nvGrpSpPr>
        <p:grpSpPr bwMode="auto">
          <a:xfrm>
            <a:off x="3807675" y="1697888"/>
            <a:ext cx="3551238" cy="646113"/>
            <a:chOff x="1500" y="3163"/>
            <a:chExt cx="2237" cy="407"/>
          </a:xfrm>
        </p:grpSpPr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63059B90-D16C-4128-A055-89D866291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" y="3163"/>
              <a:ext cx="99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Faculty</a:t>
              </a: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8A46E967-69A4-4B49-8A32-A41148396D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8" y="3163"/>
              <a:ext cx="939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3D3D3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Course</a:t>
              </a:r>
            </a:p>
          </p:txBody>
        </p:sp>
      </p:grpSp>
      <p:pic>
        <p:nvPicPr>
          <p:cNvPr id="10" name="Picture 4">
            <a:extLst>
              <a:ext uri="{FF2B5EF4-FFF2-40B4-BE49-F238E27FC236}">
                <a16:creationId xmlns:a16="http://schemas.microsoft.com/office/drawing/2014/main" id="{94CFE40A-96BE-4430-9321-E918B789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932" y="1837954"/>
            <a:ext cx="476220" cy="384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5769D-6639-4BD4-A4A3-79BF40C3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60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6A04C5-4F49-4BD7-8047-CC75B3DBB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CCD692D-BEF2-4722-A275-CD1AC1783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68130CEA-ED96-4886-BFCC-B709F6B9E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division</a:t>
            </a:r>
            <a:endParaRPr lang="en-US" altLang="en-US" dirty="0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AF0E762F-3B1B-4E9F-98DC-53F95A69F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137" y="1828800"/>
            <a:ext cx="11260183" cy="5029200"/>
          </a:xfrm>
          <a:noFill/>
        </p:spPr>
        <p:txBody>
          <a:bodyPr>
            <a:normAutofit/>
          </a:bodyPr>
          <a:lstStyle/>
          <a:p>
            <a:pPr lvl="1" algn="just">
              <a:lnSpc>
                <a:spcPct val="7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division is a binary operation that is written as R ÷ S.</a:t>
            </a:r>
          </a:p>
          <a:p>
            <a:pPr marL="324000" lvl="1" indent="0" algn="just">
              <a:lnSpc>
                <a:spcPct val="7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7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consists of the restrictions of tuples in R to the attribute names unique to R, for which it holds that all their combinations with tuples in S are present in R.</a:t>
            </a:r>
          </a:p>
          <a:p>
            <a:pPr marL="324000" lvl="1" indent="0" algn="just">
              <a:lnSpc>
                <a:spcPct val="70000"/>
              </a:lnSpc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244546"/>
      </p:ext>
    </p:extLst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F6A04C5-4F49-4BD7-8047-CC75B3DBB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CCD692D-BEF2-4722-A275-CD1AC1783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68130CEA-ED96-4886-BFCC-B709F6B9E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division</a:t>
            </a:r>
            <a:endParaRPr lang="en-US" altLang="en-US" dirty="0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AF0E762F-3B1B-4E9F-98DC-53F95A69F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8011" y="1828800"/>
            <a:ext cx="11192797" cy="5029200"/>
          </a:xfrm>
          <a:noFill/>
        </p:spPr>
        <p:txBody>
          <a:bodyPr>
            <a:normAutofit/>
          </a:bodyPr>
          <a:lstStyle/>
          <a:p>
            <a:pPr lvl="1" algn="just">
              <a:lnSpc>
                <a:spcPct val="70000"/>
              </a:lnSpc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Precondition: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÷ 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the attributes in S must be included in the schema for R.  Also, the result has attributes R-S.</a:t>
            </a:r>
          </a:p>
          <a:p>
            <a:pPr marL="324000" lvl="1" indent="0" algn="just">
              <a:lnSpc>
                <a:spcPct val="70000"/>
              </a:lnSpc>
              <a:buNone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4263" lvl="1" indent="-304800" algn="just">
              <a:lnSpc>
                <a:spcPct val="70000"/>
              </a:lnSpc>
              <a:buFont typeface="Courier New" panose="02070309020205020404" pitchFamily="49" charset="0"/>
              <a:buChar char="o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SALES(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supId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prodId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423988" lvl="1" indent="-627063" algn="just">
              <a:lnSpc>
                <a:spcPct val="70000"/>
              </a:lnSpc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PRODUCTS(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prodId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371600" lvl="1" indent="-574675" algn="just">
              <a:lnSpc>
                <a:spcPct val="70000"/>
              </a:lnSpc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SALES and PRODUCTS must be built using projections. </a:t>
            </a:r>
          </a:p>
          <a:p>
            <a:pPr marL="1371600" lvl="1" indent="-574675" algn="just">
              <a:lnSpc>
                <a:spcPct val="70000"/>
              </a:lnSpc>
              <a:buFont typeface="Courier New" panose="02070309020205020404" pitchFamily="49" charset="0"/>
              <a:buChar char="o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SALES/PRODUCTS: the ids of the suppliers supplying  ALL products.</a:t>
            </a:r>
          </a:p>
          <a:p>
            <a:pPr marL="1371600" lvl="1" indent="-574675" algn="just">
              <a:lnSpc>
                <a:spcPct val="70000"/>
              </a:lnSpc>
              <a:buFont typeface="Courier New" panose="02070309020205020404" pitchFamily="49" charset="0"/>
              <a:buChar char="o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91B8-8A91-43A9-AD87-14A5CB21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 sz="40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Example: division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66342-A647-4C71-8C8E-C49AAF19C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4513" y="2118731"/>
            <a:ext cx="3301692" cy="437489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a-DK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  <a:p>
            <a:pPr marL="0" indent="0">
              <a:buNone/>
            </a:pPr>
            <a:r>
              <a:rPr lang="da-DK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	Task</a:t>
            </a:r>
          </a:p>
          <a:p>
            <a:pPr marL="0" indent="0">
              <a:buNone/>
            </a:pPr>
            <a:r>
              <a:rPr lang="da-DK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Fred		Database1</a:t>
            </a:r>
          </a:p>
          <a:p>
            <a:pPr marL="0" indent="0">
              <a:buNone/>
            </a:pPr>
            <a:r>
              <a:rPr lang="da-DK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Fred		Database2</a:t>
            </a:r>
          </a:p>
          <a:p>
            <a:pPr marL="0" indent="0">
              <a:buNone/>
            </a:pPr>
            <a:r>
              <a:rPr lang="da-DK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Fred		Compiler1</a:t>
            </a:r>
          </a:p>
          <a:p>
            <a:pPr marL="0" indent="0">
              <a:buNone/>
            </a:pPr>
            <a:r>
              <a:rPr lang="da-DK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Eugene		Database1</a:t>
            </a:r>
          </a:p>
          <a:p>
            <a:pPr marL="0" indent="0">
              <a:buNone/>
            </a:pPr>
            <a:r>
              <a:rPr lang="da-DK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Eugene		Compiler1</a:t>
            </a:r>
          </a:p>
          <a:p>
            <a:pPr marL="0" indent="0">
              <a:buNone/>
            </a:pPr>
            <a:r>
              <a:rPr lang="da-DK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Sarah		Database1</a:t>
            </a:r>
          </a:p>
          <a:p>
            <a:pPr marL="0" indent="0">
              <a:buNone/>
            </a:pPr>
            <a:r>
              <a:rPr lang="da-DK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Sarah		Database2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893B9-348C-486D-933A-E5D128599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AB2D9-995D-425A-8425-97C4D13B7DC7}" type="slidenum">
              <a:rPr lang="en-US" smtClean="0"/>
              <a:t>46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9E74A-832E-4731-8849-E82565AFA0FA}"/>
              </a:ext>
            </a:extLst>
          </p:cNvPr>
          <p:cNvSpPr txBox="1"/>
          <p:nvPr/>
        </p:nvSpPr>
        <p:spPr>
          <a:xfrm>
            <a:off x="4641669" y="2058674"/>
            <a:ext cx="2163511" cy="211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3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DBProject</a:t>
            </a:r>
            <a:endParaRPr lang="en-US" sz="3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Database1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03F563-E344-4422-8C9E-AA047B9F0C34}"/>
              </a:ext>
            </a:extLst>
          </p:cNvPr>
          <p:cNvSpPr txBox="1"/>
          <p:nvPr/>
        </p:nvSpPr>
        <p:spPr>
          <a:xfrm>
            <a:off x="7440907" y="2058674"/>
            <a:ext cx="40604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3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÷ </a:t>
            </a:r>
            <a:r>
              <a:rPr lang="en-US" sz="3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DBProject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41C8B3-541F-4AAB-9388-2AF0892CE24D}"/>
              </a:ext>
            </a:extLst>
          </p:cNvPr>
          <p:cNvGraphicFramePr>
            <a:graphicFrameLocks noGrp="1"/>
          </p:cNvGraphicFramePr>
          <p:nvPr/>
        </p:nvGraphicFramePr>
        <p:xfrm>
          <a:off x="8398574" y="2612672"/>
          <a:ext cx="1480457" cy="1225296"/>
        </p:xfrm>
        <a:graphic>
          <a:graphicData uri="http://schemas.openxmlformats.org/drawingml/2006/table">
            <a:tbl>
              <a:tblPr/>
              <a:tblGrid>
                <a:gridCol w="1480457">
                  <a:extLst>
                    <a:ext uri="{9D8B030D-6E8A-4147-A177-3AD203B41FA5}">
                      <a16:colId xmlns:a16="http://schemas.microsoft.com/office/drawing/2014/main" val="279302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</a:pPr>
                      <a:r>
                        <a:rPr lang="en-US" sz="2400" b="1" kern="12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779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sz="2400" kern="12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344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sz="2400" kern="120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Sarah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902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2565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76722F-3B10-4B48-AF7F-D058023AA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1" y="3429000"/>
            <a:ext cx="10993546" cy="2843463"/>
          </a:xfrm>
        </p:spPr>
        <p:txBody>
          <a:bodyPr>
            <a:normAutofit/>
          </a:bodyPr>
          <a:lstStyle/>
          <a:p>
            <a:pPr algn="ctr"/>
            <a:endParaRPr lang="en-US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A994C30-4921-46ED-ACD6-3D34DBBC2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323252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1046</TotalTime>
  <Words>1623</Words>
  <Application>Microsoft Office PowerPoint</Application>
  <PresentationFormat>Widescreen</PresentationFormat>
  <Paragraphs>543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Calibri</vt:lpstr>
      <vt:lpstr>Courier New</vt:lpstr>
      <vt:lpstr>Gill Sans MT</vt:lpstr>
      <vt:lpstr>Times</vt:lpstr>
      <vt:lpstr>Times New Roman</vt:lpstr>
      <vt:lpstr>Wingdings</vt:lpstr>
      <vt:lpstr>Wingdings 2</vt:lpstr>
      <vt:lpstr>Dividend</vt:lpstr>
      <vt:lpstr>Relational algebra</vt:lpstr>
      <vt:lpstr>Learning Objectives</vt:lpstr>
      <vt:lpstr>Relational  Algebra</vt:lpstr>
      <vt:lpstr>Relational Algebra</vt:lpstr>
      <vt:lpstr>Relational Algebra Basic Operations </vt:lpstr>
      <vt:lpstr>Relational Algebra Basic Operations </vt:lpstr>
      <vt:lpstr>Relational Algebra Operations</vt:lpstr>
      <vt:lpstr>Five Basic Operators</vt:lpstr>
      <vt:lpstr>select </vt:lpstr>
      <vt:lpstr>select</vt:lpstr>
      <vt:lpstr>STAFF relation</vt:lpstr>
      <vt:lpstr>Example: Select</vt:lpstr>
      <vt:lpstr>Project</vt:lpstr>
      <vt:lpstr>Example: Projection</vt:lpstr>
      <vt:lpstr>Cartesian Product</vt:lpstr>
      <vt:lpstr>Example: Cartesian Product</vt:lpstr>
      <vt:lpstr>Example: Cartesian Product</vt:lpstr>
      <vt:lpstr>Equi- join</vt:lpstr>
      <vt:lpstr>Equi-join</vt:lpstr>
      <vt:lpstr>Example: Equi-join</vt:lpstr>
      <vt:lpstr>Example: Equi-join</vt:lpstr>
      <vt:lpstr>Union</vt:lpstr>
      <vt:lpstr>Example: Union</vt:lpstr>
      <vt:lpstr>Example 1: Union</vt:lpstr>
      <vt:lpstr>Branch relation</vt:lpstr>
      <vt:lpstr>Property-For-Rent  relation</vt:lpstr>
      <vt:lpstr>Example 2: Union</vt:lpstr>
      <vt:lpstr>Intersection</vt:lpstr>
      <vt:lpstr>Example 1: intersection</vt:lpstr>
      <vt:lpstr>Example 2: intersection</vt:lpstr>
      <vt:lpstr>Set Difference</vt:lpstr>
      <vt:lpstr>Example 1: set difference</vt:lpstr>
      <vt:lpstr>Example 2: set difference</vt:lpstr>
      <vt:lpstr>outer join</vt:lpstr>
      <vt:lpstr>Left outer join</vt:lpstr>
      <vt:lpstr>Example: Left outer join</vt:lpstr>
      <vt:lpstr>Example: Left outer join</vt:lpstr>
      <vt:lpstr>right outer join</vt:lpstr>
      <vt:lpstr>Example: right outer join</vt:lpstr>
      <vt:lpstr>Example: right outer join</vt:lpstr>
      <vt:lpstr>Full outer join</vt:lpstr>
      <vt:lpstr>Example: full outer join</vt:lpstr>
      <vt:lpstr>Example: full outer join</vt:lpstr>
      <vt:lpstr>division</vt:lpstr>
      <vt:lpstr>division</vt:lpstr>
      <vt:lpstr>Example: division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Tariq Rafiq`</dc:creator>
  <cp:lastModifiedBy>Tariq</cp:lastModifiedBy>
  <cp:revision>389</cp:revision>
  <dcterms:created xsi:type="dcterms:W3CDTF">2020-07-11T13:07:44Z</dcterms:created>
  <dcterms:modified xsi:type="dcterms:W3CDTF">2024-10-02T07:06:51Z</dcterms:modified>
</cp:coreProperties>
</file>